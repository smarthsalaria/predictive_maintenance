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Urbanist" panose="020B0604020202020204" charset="0"/>
      <p:regular r:id="rId16"/>
      <p:bold r:id="rId17"/>
      <p:italic r:id="rId18"/>
      <p:boldItalic r:id="rId19"/>
    </p:embeddedFont>
    <p:embeddedFont>
      <p:font typeface="Urbanist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5F5BB2-E33E-4528-815A-040E142D9B85}">
  <a:tblStyle styleId="{F05F5BB2-E33E-4528-815A-040E142D9B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61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1699319"/>
            <a:ext cx="10162540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Industrial Equipment Failure Prediction Using Edge Analytics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952500" y="3398341"/>
            <a:ext cx="82772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ML approach using Isolation Forest &amp; Linear Regression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701331"/>
            <a:ext cx="540766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Course: Major Project | MCA – AI/ML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Student Name: Smarth Salaria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Student UID: O24MCA112144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Mentor Name: Vikas Kumar Atray</a:t>
            </a:r>
            <a:endParaRPr dirty="0"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3270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SYSTEM OVERVIEW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7560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Industrial Challenge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989957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Standard SCADA systems rely on static thresholds, often missing the subtle "drift" of mechanical degradation. Our solution employs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"Belt and Suspenders"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methodology.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3270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71525" y="398055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980557"/>
            <a:ext cx="5095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Deterministic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Statistical Z-Score overrides for sudden spikes.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460920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609207"/>
            <a:ext cx="5095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Probabilistic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Unsupervised Isolation Forest for multi-vector anomaly detection.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71525" y="523785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09625" y="5237857"/>
            <a:ext cx="5095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Prognostic Layer: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Linear Regression for real-time RUL forecasting.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A10AB798-A084-6397-F23E-DBCE2969A9E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2207"/>
            <a:ext cx="35559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942207"/>
            <a:ext cx="35559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42207"/>
            <a:ext cx="3556099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USE CASE ANALYSIS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67600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Primary Actors: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Sensor Module (System), Edge AI Node (System), Maintenance Engineer (Human).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2961382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UC-01: ML Training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3475732"/>
            <a:ext cx="2965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Initializes "Machine Memory" from SQLite history; fits Isolation Forest model on healthy operational data baseline.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13225" y="2961382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UC-02: Evaluation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13225" y="3475732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Real-time ingestion of telemetry to assess machine state against unsupervised ML boundaries.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59675" y="2961382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UC-03: RUL Predict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59675" y="3475732"/>
            <a:ext cx="2965549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Activates supervised Linear Regression upon anomaly detection to project Remaining Useful Life based on degradation velocity.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2660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2660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26605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1E53AC75-E952-997D-4037-B9FACE81D41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490763"/>
            <a:ext cx="5334000" cy="72836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HYBRID ANOMALY DETECTION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597646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A. Isolation Forest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3111996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Identifies multi-vector outliers by isolating data points through decision trees. Anomalies require fewer splits.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35896"/>
            <a:ext cx="5334000" cy="40377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4506366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B. Z-Score Override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5020716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Parallel statistical math to catch rapid linear degradations and prevent "drift blindness."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286500" y="4409628"/>
            <a:ext cx="533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Override Threshold: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|Z| &gt; 3.5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000" y="3681263"/>
            <a:ext cx="4953000" cy="34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C6788B48-637D-04C3-9C09-EA9FE318632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950862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RUL FORECASTING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1304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2055762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Linear Regression Engine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271298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Once a fault is latched (3-strike persistence), the system buffers the last 10 seconds of data.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4765327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slope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of the regression hyperplane determines the degradation velocity, providing a deterministic countdown to the NEMA/ISO safety limit.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827412"/>
            <a:ext cx="4552950" cy="356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0204" y="285750"/>
            <a:ext cx="160079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18DA1EA9-EAC3-61AC-F77F-9CC195CE34A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FINITE STATE MACHINE (FSM)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571500" y="2370832"/>
          <a:ext cx="11049000" cy="3524325"/>
        </p:xfrm>
        <a:graphic>
          <a:graphicData uri="http://schemas.openxmlformats.org/drawingml/2006/table">
            <a:tbl>
              <a:tblPr firstRow="1" bandRow="1">
                <a:noFill/>
                <a:tableStyleId>{F05F5BB2-E33E-4528-815A-040E142D9B85}</a:tableStyleId>
              </a:tblPr>
              <a:tblGrid>
                <a:gridCol w="11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Logic &amp; Trigger Condition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Initialization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Boots MQTT, trains baselines, applies Poison Filter to SQLite history.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Rest/Monitoring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Nominal operation. Consecutive anomaly counter is zero.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Drift Identification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Unverified anomaly (Strike 1 or 2). System holds for confirmation.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Stage 1 Warning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Latched alarm (Strike 3+). RUL Engine active. Digital Twin alerts.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Stage 2 Critical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Hard Limit (e.g. &gt;80°C) breached. Emergency Shutdown (ESD) issued.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State 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Repair Validation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Hysteresis logic: Requires 3 consecutive healthy readings to return to State 1.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5" name="Google Shape;165;p18"/>
          <p:cNvSpPr/>
          <p:nvPr/>
        </p:nvSpPr>
        <p:spPr>
          <a:xfrm>
            <a:off x="571500" y="3356669"/>
            <a:ext cx="1117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689050" y="3356669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822650" y="3356669"/>
            <a:ext cx="7797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3861494"/>
            <a:ext cx="1117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1689050" y="3861494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822650" y="3861494"/>
            <a:ext cx="7797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1500" y="4366319"/>
            <a:ext cx="1117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689050" y="4366319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822650" y="4366319"/>
            <a:ext cx="7797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1500" y="4871144"/>
            <a:ext cx="1117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689050" y="4871144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822650" y="4871144"/>
            <a:ext cx="7797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1500" y="5375969"/>
            <a:ext cx="1117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689050" y="5375969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822650" y="5375969"/>
            <a:ext cx="7797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71500" y="5880794"/>
            <a:ext cx="1117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689050" y="5880794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822650" y="5880794"/>
            <a:ext cx="7797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D0163F81-D852-D5B8-1F75-BD8EA6B02C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007"/>
            <a:ext cx="3555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47007"/>
            <a:ext cx="3555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47007"/>
            <a:ext cx="35560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UML SEQUENCE INTERACTION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72175" y="489495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571500" y="537120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Latency Optimized: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End-to-end processing &lt; 15ms.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66775" y="2808982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Perception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66775" y="3323332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Sensor Simulator publishes Raw Telemetry (JSON) to Mosquitto Broker at 1 Hz.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613225" y="2808982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Intelligence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4613225" y="3323332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Edge AI Node parses payload, applies Smoothing, runs Hybrid Inference, and logs to SQLite.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359675" y="2808982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Presentation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359675" y="3323332"/>
            <a:ext cx="296554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Streamlit Dashboard polls SQLite asynchronously, renders Plotly charts and RUL countdown.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EBC0AA90-D528-9812-EF91-E4FE4E19D3E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0832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EDGE INFRASTRUCTURE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70832"/>
            <a:ext cx="14954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6286500" y="260895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Target Environment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286500" y="3123307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Optimized for ARM Cortex-A72 architectures (Raspberry Pi 4 / Jetson Nano).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486525" y="384720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24625" y="3847207"/>
            <a:ext cx="5095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Processor: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Quad-core 1.5 GHz+ (supports twin inference engines).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486525" y="447585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524625" y="4475857"/>
            <a:ext cx="5095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Memory: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2 GB LPDDR4 minimum (efficient Python/Mosquitto footprint).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486525" y="510450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24625" y="5104507"/>
            <a:ext cx="5095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Storage: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Localized SQLite for high-availability "Machine Memory."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61A93769-B526-552F-5150-E25E880B08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213794"/>
            <a:ext cx="53340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JSON MESSAGING SCHEMA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300900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Diagnostic Payload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3523357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Upon fault identification, the system dynamically generates Root-Cause Analysis (RCA) metadata.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424725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09625" y="4247257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Status &amp; Message tags.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71525" y="460920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09625" y="4609207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Faulty Sensor ID.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71525" y="4971157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809625" y="4971157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Prognostic Confidence markers.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669CBDC8-8AE2-3FF9-D439-AAE66D093B9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4657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94657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94657"/>
            <a:ext cx="355609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VALIDATION &amp; PERFORMANCE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866775" y="3513832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Unit Testing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66775" y="4028182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Verified +1.0°C/sec slope detection and Gaussian noise filtering (&lt; 2% variance).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13225" y="3513832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Integration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613225" y="4028182"/>
            <a:ext cx="2965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Validated concurrent SQL read/write and 1 Hz MQTT throughput with zero database lockout.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359675" y="3513832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359675" y="4028182"/>
            <a:ext cx="296554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Avg Latency: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8-15ms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(Exceeding NFR-01 target of 50ms).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1850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81850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81850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F5F2E233-296F-0BB4-5891-D88D69F5D57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DEPLOYMENT MANUAL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571500" y="4890194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11D48"/>
                </a:solidFill>
                <a:latin typeface="Urbanist"/>
                <a:ea typeface="Urbanist"/>
                <a:cs typeface="Urbanist"/>
                <a:sym typeface="Urbanist"/>
              </a:rPr>
              <a:t>Master Command: python run_all.py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66775" y="2928044"/>
            <a:ext cx="857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52500" y="2928044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Environment: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Run pip install -r requirements.txt to setup ML and MQTT frameworks.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09625" y="329951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952500" y="3299519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Connectivity: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Start Mosquitto Broker on Port 1883.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19150" y="3661469"/>
            <a:ext cx="133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952500" y="3661469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Simulation: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Launch python cooling_pump_sim.py (1 Hz telemetry).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09625" y="4032944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52500" y="4032944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Intelligence: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Launch python edge_node.py (Isolation Forest / Z-Score).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440441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5.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52500" y="4404419"/>
            <a:ext cx="10668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Digital Twin: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Launch streamlit run dashboard.py for real-time visualization.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62772DC9-5FE5-6A7F-0196-F4B551B8BB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REFERENCES &amp; CONCLUSION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571500" y="29786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[1] ISO 20816-1:2017 Mechanical vibration standards.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571500" y="34358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[2] NEMA MG 1-2021: Motors and Generators guidelines.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38930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[3] Liu et al. (2008) "Isolation Forest" IEEE ICDM.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571500" y="43502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[4] NIST SP 800-82 Revision 2: ICS Security.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48074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[5] Si et al. (2011) "Remaining useful life estimation" EJOR.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153150" y="3169146"/>
            <a:ext cx="5600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E11D4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Questions?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286500" y="38168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286500" y="4464546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Predictive Maintenance Project | CU_Project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286500" y="4921746"/>
            <a:ext cx="53340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github.com/smarthsalaria/predictive_maintenance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D505453E-B275-50F0-EAEC-020B0C98DF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762000" y="950862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571500" y="950862"/>
            <a:ext cx="76200" cy="5524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1500" y="243393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320546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71500" y="397698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1500" y="3195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3195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3967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71500" y="3967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" y="47389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71500" y="47389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68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1666875" y="25977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https://www.cuchd.in/about/assets/images/cu-logo.png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666875" y="28186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www.cuchd.in</a:t>
            </a:r>
            <a:endParaRPr/>
          </a:p>
        </p:txBody>
      </p:sp>
      <p:pic>
        <p:nvPicPr>
          <p:cNvPr id="313" name="Google Shape;31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48335"/>
            <a:ext cx="16287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666875" y="336931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https://centosoftware.com/wp-content/uploads/2025/11/1920-1000-CENTO-dashboard-DCIM.webp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666875" y="359018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centosoftware.com</a:t>
            </a:r>
            <a:endParaRPr/>
          </a:p>
        </p:txBody>
      </p:sp>
      <p:pic>
        <p:nvPicPr>
          <p:cNvPr id="316" name="Google Shape;31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19860"/>
            <a:ext cx="132397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1666875" y="41408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https://www1.edur.com/files/template/frontend/img/news/EDUR%20Centrifugal%20Pumps%20for%20Cooling%20Systems.png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1666875" y="43617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www1.edur.com</a:t>
            </a:r>
            <a:endParaRPr/>
          </a:p>
        </p:txBody>
      </p:sp>
      <p:pic>
        <p:nvPicPr>
          <p:cNvPr id="319" name="Google Shape;31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56869"/>
            <a:ext cx="140017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1666875" y="489138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www.nvidia.com/content/nvidiaGDC/us/en_US/autonomous-machines/embedded-systems/jetson-nano/product-development/_jcr_content/root/responsivegrid/nv_container_1054256/nv_container_1666670587/nv_image.coreimg.100.1070.jpeg/1710770680654/jetson-partner-ecosystem-2560x1440.jpeg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1666875" y="528548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www.nvidia.com</a:t>
            </a:r>
            <a:endParaRPr/>
          </a:p>
        </p:txBody>
      </p:sp>
      <p:pic>
        <p:nvPicPr>
          <p:cNvPr id="2" name="Google Shape;88;p13">
            <a:extLst>
              <a:ext uri="{FF2B5EF4-FFF2-40B4-BE49-F238E27FC236}">
                <a16:creationId xmlns:a16="http://schemas.microsoft.com/office/drawing/2014/main" id="{D79B155E-F107-1625-06E5-275C3A6C54F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0204" y="393758"/>
            <a:ext cx="1600795" cy="355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</Words>
  <Application>Microsoft Office PowerPoint</Application>
  <PresentationFormat>Widescreen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Urbanist SemiBold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Smarth Salaria</cp:lastModifiedBy>
  <cp:revision>1</cp:revision>
  <dcterms:modified xsi:type="dcterms:W3CDTF">2026-05-17T09:54:59Z</dcterms:modified>
</cp:coreProperties>
</file>