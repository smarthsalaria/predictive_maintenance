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4" r:id="rId9"/>
    <p:sldId id="265" r:id="rId10"/>
    <p:sldId id="266" r:id="rId11"/>
    <p:sldId id="267" r:id="rId12"/>
  </p:sldIdLst>
  <p:sldSz cx="12192000" cy="6858000"/>
  <p:notesSz cx="6858000" cy="9144000"/>
  <p:embeddedFontLst>
    <p:embeddedFont>
      <p:font typeface="Urbanist" panose="020B060402020202020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5F5BB2-E33E-4528-815A-040E142D9B85}">
  <a:tblStyle styleId="{F05F5BB2-E33E-4528-815A-040E142D9B8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5" d="100"/>
          <a:sy n="85" d="100"/>
        </p:scale>
        <p:origin x="77" y="-1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2" name="Picture 1">
            <a:extLst>
              <a:ext uri="{FF2B5EF4-FFF2-40B4-BE49-F238E27FC236}">
                <a16:creationId xmlns:a16="http://schemas.microsoft.com/office/drawing/2014/main" id="{A97BD299-3FA3-8C70-04C3-0DF0FFE9977A}"/>
              </a:ext>
            </a:extLst>
          </p:cNvPr>
          <p:cNvPicPr>
            <a:picLocks noChangeAspect="1"/>
          </p:cNvPicPr>
          <p:nvPr/>
        </p:nvPicPr>
        <p:blipFill>
          <a:blip r:embed="rId3"/>
          <a:srcRect r="3325"/>
          <a:stretch>
            <a:fillRect/>
          </a:stretch>
        </p:blipFill>
        <p:spPr>
          <a:xfrm>
            <a:off x="0" y="0"/>
            <a:ext cx="12192000" cy="6858000"/>
          </a:xfrm>
          <a:prstGeom prst="rect">
            <a:avLst/>
          </a:prstGeom>
        </p:spPr>
      </p:pic>
      <p:pic>
        <p:nvPicPr>
          <p:cNvPr id="84" name="Google Shape;84;p13" descr="image.png"/>
          <p:cNvPicPr preferRelativeResize="0"/>
          <p:nvPr/>
        </p:nvPicPr>
        <p:blipFill rotWithShape="1">
          <a:blip r:embed="rId4">
            <a:alphaModFix/>
          </a:blip>
          <a:srcRect/>
          <a:stretch>
            <a:fillRect/>
          </a:stretch>
        </p:blipFill>
        <p:spPr>
          <a:xfrm>
            <a:off x="0" y="0"/>
            <a:ext cx="12192000" cy="6858000"/>
          </a:xfrm>
          <a:prstGeom prst="rect">
            <a:avLst/>
          </a:prstGeom>
          <a:noFill/>
          <a:ln>
            <a:noFill/>
          </a:ln>
        </p:spPr>
      </p:pic>
      <p:sp>
        <p:nvSpPr>
          <p:cNvPr id="85" name="Google Shape;85;p13"/>
          <p:cNvSpPr txBox="1"/>
          <p:nvPr/>
        </p:nvSpPr>
        <p:spPr>
          <a:xfrm>
            <a:off x="952500" y="1699319"/>
            <a:ext cx="10162540" cy="182819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5400" b="1" i="0" u="none" strike="noStrike" cap="none" dirty="0">
                <a:solidFill>
                  <a:srgbClr val="FFFFFF"/>
                </a:solidFill>
                <a:latin typeface="Urbanist"/>
                <a:ea typeface="Urbanist"/>
                <a:cs typeface="Urbanist"/>
                <a:sym typeface="Urbanist"/>
              </a:rPr>
              <a:t>Industrial Equipment Failure Prediction Using Edge Analytics</a:t>
            </a:r>
            <a:endParaRPr dirty="0"/>
          </a:p>
        </p:txBody>
      </p:sp>
      <p:sp>
        <p:nvSpPr>
          <p:cNvPr id="86" name="Google Shape;86;p13"/>
          <p:cNvSpPr txBox="1"/>
          <p:nvPr/>
        </p:nvSpPr>
        <p:spPr>
          <a:xfrm>
            <a:off x="952500" y="3398341"/>
            <a:ext cx="8277225" cy="517065"/>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dirty="0">
                <a:solidFill>
                  <a:srgbClr val="FBBF24"/>
                </a:solidFill>
                <a:latin typeface="Urbanist"/>
                <a:ea typeface="Urbanist"/>
                <a:cs typeface="Urbanist"/>
                <a:sym typeface="Urbanist"/>
              </a:rPr>
              <a:t>ML approach using Isolation Forest &amp; Linear Regression</a:t>
            </a:r>
            <a:endParaRPr dirty="0"/>
          </a:p>
        </p:txBody>
      </p:sp>
      <p:sp>
        <p:nvSpPr>
          <p:cNvPr id="87" name="Google Shape;87;p13"/>
          <p:cNvSpPr txBox="1"/>
          <p:nvPr/>
        </p:nvSpPr>
        <p:spPr>
          <a:xfrm>
            <a:off x="952500" y="4701331"/>
            <a:ext cx="5407660"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FFFFFF"/>
                </a:solidFill>
                <a:latin typeface="Urbanist"/>
                <a:ea typeface="Urbanist"/>
                <a:cs typeface="Urbanist"/>
                <a:sym typeface="Urbanist"/>
              </a:rPr>
              <a:t>Course: Major Project | MCA – AI/ML</a:t>
            </a:r>
          </a:p>
          <a:p>
            <a:pPr marL="0" marR="0" lvl="0" indent="0" algn="l" rtl="0">
              <a:lnSpc>
                <a:spcPct val="140000"/>
              </a:lnSpc>
              <a:spcBef>
                <a:spcPts val="0"/>
              </a:spcBef>
              <a:spcAft>
                <a:spcPts val="0"/>
              </a:spcAft>
              <a:buNone/>
            </a:pPr>
            <a:r>
              <a:rPr lang="en-US" sz="1500" dirty="0">
                <a:solidFill>
                  <a:srgbClr val="FFFFFF"/>
                </a:solidFill>
                <a:latin typeface="Urbanist"/>
                <a:ea typeface="Urbanist"/>
                <a:cs typeface="Urbanist"/>
                <a:sym typeface="Urbanist"/>
              </a:rPr>
              <a:t>Student Name: Smarth Salaria</a:t>
            </a:r>
          </a:p>
          <a:p>
            <a:pPr marL="0" marR="0" lvl="0" indent="0" algn="l" rtl="0">
              <a:lnSpc>
                <a:spcPct val="140000"/>
              </a:lnSpc>
              <a:spcBef>
                <a:spcPts val="0"/>
              </a:spcBef>
              <a:spcAft>
                <a:spcPts val="0"/>
              </a:spcAft>
              <a:buNone/>
            </a:pPr>
            <a:r>
              <a:rPr lang="en-US" sz="1500" dirty="0">
                <a:solidFill>
                  <a:srgbClr val="FFFFFF"/>
                </a:solidFill>
                <a:latin typeface="Urbanist"/>
                <a:ea typeface="Urbanist"/>
                <a:cs typeface="Urbanist"/>
                <a:sym typeface="Urbanist"/>
              </a:rPr>
              <a:t>Student UID: O24MCA112144</a:t>
            </a:r>
          </a:p>
          <a:p>
            <a:pPr marL="0" marR="0" lvl="0" indent="0" algn="l" rtl="0">
              <a:lnSpc>
                <a:spcPct val="140000"/>
              </a:lnSpc>
              <a:spcBef>
                <a:spcPts val="0"/>
              </a:spcBef>
              <a:spcAft>
                <a:spcPts val="0"/>
              </a:spcAft>
              <a:buNone/>
            </a:pPr>
            <a:r>
              <a:rPr lang="en-US" sz="1500" dirty="0">
                <a:solidFill>
                  <a:srgbClr val="FFFFFF"/>
                </a:solidFill>
                <a:latin typeface="Urbanist"/>
                <a:ea typeface="Urbanist"/>
                <a:cs typeface="Urbanist"/>
                <a:sym typeface="Urbanist"/>
              </a:rPr>
              <a:t>Mentor Name: Vikas Kumar Atray</a:t>
            </a:r>
            <a:endParaRPr dirty="0"/>
          </a:p>
        </p:txBody>
      </p:sp>
      <p:pic>
        <p:nvPicPr>
          <p:cNvPr id="88" name="Google Shape;88;p13"/>
          <p:cNvPicPr preferRelativeResize="0"/>
          <p:nvPr/>
        </p:nvPicPr>
        <p:blipFill rotWithShape="1">
          <a:blip r:embed="rId5">
            <a:alphaModFix/>
          </a:blip>
          <a:srcRect/>
          <a:stretch/>
        </p:blipFill>
        <p:spPr>
          <a:xfrm>
            <a:off x="10210204" y="393758"/>
            <a:ext cx="1600795" cy="35548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6286500" y="2132707"/>
            <a:ext cx="5334000" cy="3810000"/>
          </a:xfrm>
          <a:prstGeom prst="rect">
            <a:avLst/>
          </a:prstGeom>
          <a:noFill/>
          <a:ln>
            <a:noFill/>
          </a:ln>
        </p:spPr>
      </p:pic>
      <p:sp>
        <p:nvSpPr>
          <p:cNvPr id="95" name="Google Shape;95;p14"/>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Times New Roman" panose="02020603050405020304" pitchFamily="18" charset="0"/>
                <a:ea typeface="Urbanist"/>
                <a:cs typeface="Times New Roman" panose="02020603050405020304" pitchFamily="18" charset="0"/>
                <a:sym typeface="Urbanist"/>
              </a:rPr>
              <a:t>SYSTEM OVERVIEW</a:t>
            </a:r>
            <a:endParaRPr dirty="0">
              <a:latin typeface="Times New Roman" panose="02020603050405020304" pitchFamily="18" charset="0"/>
              <a:cs typeface="Times New Roman" panose="02020603050405020304" pitchFamily="18" charset="0"/>
            </a:endParaRPr>
          </a:p>
        </p:txBody>
      </p:sp>
      <p:sp>
        <p:nvSpPr>
          <p:cNvPr id="96" name="Google Shape;96;p14"/>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txBox="1"/>
          <p:nvPr/>
        </p:nvSpPr>
        <p:spPr>
          <a:xfrm>
            <a:off x="609600" y="1829900"/>
            <a:ext cx="560070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dirty="0">
                <a:solidFill>
                  <a:srgbClr val="E11D48"/>
                </a:solidFill>
                <a:latin typeface="Times New Roman" panose="02020603050405020304" pitchFamily="18" charset="0"/>
                <a:ea typeface="Urbanist SemiBold"/>
                <a:cs typeface="Times New Roman" panose="02020603050405020304" pitchFamily="18" charset="0"/>
                <a:sym typeface="Urbanist SemiBold"/>
              </a:rPr>
              <a:t>Problem Statement</a:t>
            </a:r>
            <a:endParaRPr dirty="0">
              <a:latin typeface="Times New Roman" panose="02020603050405020304" pitchFamily="18" charset="0"/>
              <a:cs typeface="Times New Roman" panose="02020603050405020304" pitchFamily="18" charset="0"/>
            </a:endParaRPr>
          </a:p>
        </p:txBody>
      </p:sp>
      <p:sp>
        <p:nvSpPr>
          <p:cNvPr id="98" name="Google Shape;98;p14"/>
          <p:cNvSpPr txBox="1"/>
          <p:nvPr/>
        </p:nvSpPr>
        <p:spPr>
          <a:xfrm>
            <a:off x="571500" y="2183455"/>
            <a:ext cx="5524500" cy="161582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Existing System like Standard SCADA systems rely on static thresholds, often missing the subtle "drift" of mechanical degradation. Whereas the Cloud based compute creates latency risk, bandwidth inefficiency and connectivity blind-spots. Our solution employs a </a:t>
            </a:r>
            <a:r>
              <a:rPr lang="en-US" sz="1500" b="1" dirty="0">
                <a:solidFill>
                  <a:srgbClr val="475569"/>
                </a:solidFill>
                <a:latin typeface="Times New Roman" panose="02020603050405020304" pitchFamily="18" charset="0"/>
                <a:ea typeface="Urbanist"/>
                <a:cs typeface="Times New Roman" panose="02020603050405020304" pitchFamily="18" charset="0"/>
                <a:sym typeface="Urbanist"/>
              </a:rPr>
              <a:t>hybrid</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methodology at the edge device using following:</a:t>
            </a:r>
            <a:endParaRPr dirty="0">
              <a:latin typeface="Times New Roman" panose="02020603050405020304" pitchFamily="18" charset="0"/>
              <a:cs typeface="Times New Roman" panose="02020603050405020304" pitchFamily="18" charset="0"/>
            </a:endParaRPr>
          </a:p>
        </p:txBody>
      </p:sp>
      <p:pic>
        <p:nvPicPr>
          <p:cNvPr id="99" name="Google Shape;99;p14"/>
          <p:cNvPicPr preferRelativeResize="0"/>
          <p:nvPr/>
        </p:nvPicPr>
        <p:blipFill rotWithShape="1">
          <a:blip r:embed="rId5">
            <a:alphaModFix/>
          </a:blip>
          <a:srcRect/>
          <a:stretch/>
        </p:blipFill>
        <p:spPr>
          <a:xfrm>
            <a:off x="6515100" y="571499"/>
            <a:ext cx="3504604" cy="6044071"/>
          </a:xfrm>
          <a:prstGeom prst="rect">
            <a:avLst/>
          </a:prstGeom>
          <a:noFill/>
          <a:ln>
            <a:noFill/>
          </a:ln>
        </p:spPr>
      </p:pic>
      <p:sp>
        <p:nvSpPr>
          <p:cNvPr id="100" name="Google Shape;100;p14"/>
          <p:cNvSpPr txBox="1"/>
          <p:nvPr/>
        </p:nvSpPr>
        <p:spPr>
          <a:xfrm>
            <a:off x="771525" y="3980557"/>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Urbanist"/>
                <a:ea typeface="Urbanist"/>
                <a:cs typeface="Urbanist"/>
                <a:sym typeface="Urbanist"/>
              </a:rPr>
              <a:t>•</a:t>
            </a:r>
            <a:endParaRPr/>
          </a:p>
        </p:txBody>
      </p:sp>
      <p:sp>
        <p:nvSpPr>
          <p:cNvPr id="101" name="Google Shape;101;p14"/>
          <p:cNvSpPr txBox="1"/>
          <p:nvPr/>
        </p:nvSpPr>
        <p:spPr>
          <a:xfrm>
            <a:off x="809625" y="3980557"/>
            <a:ext cx="5095875" cy="646331"/>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Deterministic Layer:</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Statistical Z-Score overrides for sudden spikes.</a:t>
            </a:r>
            <a:endParaRPr dirty="0">
              <a:latin typeface="Times New Roman" panose="02020603050405020304" pitchFamily="18" charset="0"/>
              <a:cs typeface="Times New Roman" panose="02020603050405020304" pitchFamily="18" charset="0"/>
            </a:endParaRPr>
          </a:p>
        </p:txBody>
      </p:sp>
      <p:sp>
        <p:nvSpPr>
          <p:cNvPr id="102" name="Google Shape;102;p14"/>
          <p:cNvSpPr txBox="1"/>
          <p:nvPr/>
        </p:nvSpPr>
        <p:spPr>
          <a:xfrm>
            <a:off x="771525" y="4609207"/>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Urbanist"/>
                <a:ea typeface="Urbanist"/>
                <a:cs typeface="Urbanist"/>
                <a:sym typeface="Urbanist"/>
              </a:rPr>
              <a:t>•</a:t>
            </a:r>
            <a:endParaRPr/>
          </a:p>
        </p:txBody>
      </p:sp>
      <p:sp>
        <p:nvSpPr>
          <p:cNvPr id="103" name="Google Shape;103;p14"/>
          <p:cNvSpPr txBox="1"/>
          <p:nvPr/>
        </p:nvSpPr>
        <p:spPr>
          <a:xfrm>
            <a:off x="809625" y="4609207"/>
            <a:ext cx="5095875" cy="646331"/>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Probabilistic Layer:</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Unsupervised Isolation Forest for multi-vector anomaly detection.</a:t>
            </a:r>
            <a:endParaRPr dirty="0">
              <a:latin typeface="Times New Roman" panose="02020603050405020304" pitchFamily="18" charset="0"/>
              <a:cs typeface="Times New Roman" panose="02020603050405020304" pitchFamily="18" charset="0"/>
            </a:endParaRPr>
          </a:p>
        </p:txBody>
      </p:sp>
      <p:sp>
        <p:nvSpPr>
          <p:cNvPr id="104" name="Google Shape;104;p14"/>
          <p:cNvSpPr txBox="1"/>
          <p:nvPr/>
        </p:nvSpPr>
        <p:spPr>
          <a:xfrm>
            <a:off x="771525" y="5237857"/>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Urbanist"/>
                <a:ea typeface="Urbanist"/>
                <a:cs typeface="Urbanist"/>
                <a:sym typeface="Urbanist"/>
              </a:rPr>
              <a:t>•</a:t>
            </a:r>
            <a:endParaRPr/>
          </a:p>
        </p:txBody>
      </p:sp>
      <p:sp>
        <p:nvSpPr>
          <p:cNvPr id="105" name="Google Shape;105;p14"/>
          <p:cNvSpPr txBox="1"/>
          <p:nvPr/>
        </p:nvSpPr>
        <p:spPr>
          <a:xfrm>
            <a:off x="809625" y="5237857"/>
            <a:ext cx="5095875" cy="646331"/>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Prognostic Layer:</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Linear Regression for real-time RUL forecasting.</a:t>
            </a:r>
            <a:endParaRPr dirty="0">
              <a:latin typeface="Times New Roman" panose="02020603050405020304" pitchFamily="18" charset="0"/>
              <a:cs typeface="Times New Roman" panose="02020603050405020304" pitchFamily="18" charset="0"/>
            </a:endParaRPr>
          </a:p>
        </p:txBody>
      </p:sp>
      <p:pic>
        <p:nvPicPr>
          <p:cNvPr id="2" name="Google Shape;88;p13">
            <a:extLst>
              <a:ext uri="{FF2B5EF4-FFF2-40B4-BE49-F238E27FC236}">
                <a16:creationId xmlns:a16="http://schemas.microsoft.com/office/drawing/2014/main" id="{A10AB798-A084-6397-F23E-DBCE2969A9E9}"/>
              </a:ext>
            </a:extLst>
          </p:cNvPr>
          <p:cNvPicPr preferRelativeResize="0"/>
          <p:nvPr/>
        </p:nvPicPr>
        <p:blipFill rotWithShape="1">
          <a:blip r:embed="rId6">
            <a:alphaModFix/>
          </a:blip>
          <a:srcRect/>
          <a:stretch/>
        </p:blipFill>
        <p:spPr>
          <a:xfrm>
            <a:off x="10210204" y="393758"/>
            <a:ext cx="1600795" cy="3554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71500" y="1942207"/>
            <a:ext cx="3555950" cy="3352800"/>
          </a:xfrm>
          <a:prstGeom prst="rect">
            <a:avLst/>
          </a:prstGeom>
          <a:noFill/>
          <a:ln>
            <a:noFill/>
          </a:ln>
        </p:spPr>
      </p:pic>
      <p:pic>
        <p:nvPicPr>
          <p:cNvPr id="113" name="Google Shape;113;p15" descr="image.png"/>
          <p:cNvPicPr preferRelativeResize="0"/>
          <p:nvPr/>
        </p:nvPicPr>
        <p:blipFill rotWithShape="1">
          <a:blip r:embed="rId5">
            <a:alphaModFix/>
          </a:blip>
          <a:srcRect/>
          <a:stretch/>
        </p:blipFill>
        <p:spPr>
          <a:xfrm>
            <a:off x="4317950" y="1942207"/>
            <a:ext cx="3555950" cy="3352800"/>
          </a:xfrm>
          <a:prstGeom prst="rect">
            <a:avLst/>
          </a:prstGeom>
          <a:noFill/>
          <a:ln>
            <a:noFill/>
          </a:ln>
        </p:spPr>
      </p:pic>
      <p:pic>
        <p:nvPicPr>
          <p:cNvPr id="114" name="Google Shape;114;p15" descr="image.png"/>
          <p:cNvPicPr preferRelativeResize="0"/>
          <p:nvPr/>
        </p:nvPicPr>
        <p:blipFill rotWithShape="1">
          <a:blip r:embed="rId6">
            <a:alphaModFix/>
          </a:blip>
          <a:srcRect/>
          <a:stretch/>
        </p:blipFill>
        <p:spPr>
          <a:xfrm>
            <a:off x="8064400" y="1942207"/>
            <a:ext cx="3556099" cy="3352800"/>
          </a:xfrm>
          <a:prstGeom prst="rect">
            <a:avLst/>
          </a:prstGeom>
          <a:noFill/>
          <a:ln>
            <a:noFill/>
          </a:ln>
        </p:spPr>
      </p:pic>
      <p:sp>
        <p:nvSpPr>
          <p:cNvPr id="115" name="Google Shape;115;p15"/>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Times New Roman" panose="02020603050405020304" pitchFamily="18" charset="0"/>
                <a:ea typeface="Urbanist"/>
                <a:cs typeface="Times New Roman" panose="02020603050405020304" pitchFamily="18" charset="0"/>
                <a:sym typeface="Urbanist"/>
              </a:rPr>
              <a:t>USE CASE ANALYSIS</a:t>
            </a:r>
            <a:endParaRPr dirty="0">
              <a:latin typeface="Times New Roman" panose="02020603050405020304" pitchFamily="18" charset="0"/>
              <a:cs typeface="Times New Roman" panose="02020603050405020304" pitchFamily="18" charset="0"/>
            </a:endParaRPr>
          </a:p>
        </p:txBody>
      </p:sp>
      <p:sp>
        <p:nvSpPr>
          <p:cNvPr id="116" name="Google Shape;116;p15"/>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txBox="1"/>
          <p:nvPr/>
        </p:nvSpPr>
        <p:spPr>
          <a:xfrm>
            <a:off x="571500" y="5676007"/>
            <a:ext cx="11049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Primary Actors:</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Sensor Module (System), Edge AI Node (System), Maintenance Engineer (Human).</a:t>
            </a:r>
            <a:endParaRPr dirty="0">
              <a:latin typeface="Times New Roman" panose="02020603050405020304" pitchFamily="18" charset="0"/>
              <a:cs typeface="Times New Roman" panose="02020603050405020304" pitchFamily="18" charset="0"/>
            </a:endParaRPr>
          </a:p>
        </p:txBody>
      </p:sp>
      <p:sp>
        <p:nvSpPr>
          <p:cNvPr id="118" name="Google Shape;118;p15"/>
          <p:cNvSpPr txBox="1"/>
          <p:nvPr/>
        </p:nvSpPr>
        <p:spPr>
          <a:xfrm>
            <a:off x="866775" y="2961382"/>
            <a:ext cx="311367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E11D48"/>
                </a:solidFill>
                <a:latin typeface="Times New Roman" panose="02020603050405020304" pitchFamily="18" charset="0"/>
                <a:ea typeface="Urbanist SemiBold"/>
                <a:cs typeface="Times New Roman" panose="02020603050405020304" pitchFamily="18" charset="0"/>
                <a:sym typeface="Urbanist SemiBold"/>
              </a:rPr>
              <a:t>UC-01: ML Training</a:t>
            </a:r>
            <a:endParaRPr b="1" dirty="0">
              <a:latin typeface="Times New Roman" panose="02020603050405020304" pitchFamily="18" charset="0"/>
              <a:cs typeface="Times New Roman" panose="02020603050405020304" pitchFamily="18" charset="0"/>
            </a:endParaRPr>
          </a:p>
        </p:txBody>
      </p:sp>
      <p:sp>
        <p:nvSpPr>
          <p:cNvPr id="119" name="Google Shape;119;p15"/>
          <p:cNvSpPr txBox="1"/>
          <p:nvPr/>
        </p:nvSpPr>
        <p:spPr>
          <a:xfrm>
            <a:off x="866775" y="3475732"/>
            <a:ext cx="2965400"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Initializes "Machine Memory" from SQLite history; fits Isolation Forest model on healthy operational data baseline.</a:t>
            </a:r>
            <a:endParaRPr dirty="0">
              <a:latin typeface="Times New Roman" panose="02020603050405020304" pitchFamily="18" charset="0"/>
              <a:cs typeface="Times New Roman" panose="02020603050405020304" pitchFamily="18" charset="0"/>
            </a:endParaRPr>
          </a:p>
        </p:txBody>
      </p:sp>
      <p:sp>
        <p:nvSpPr>
          <p:cNvPr id="120" name="Google Shape;120;p15"/>
          <p:cNvSpPr txBox="1"/>
          <p:nvPr/>
        </p:nvSpPr>
        <p:spPr>
          <a:xfrm>
            <a:off x="4613225" y="2961382"/>
            <a:ext cx="311367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E11D48"/>
                </a:solidFill>
                <a:latin typeface="Times New Roman" panose="02020603050405020304" pitchFamily="18" charset="0"/>
                <a:ea typeface="Urbanist SemiBold"/>
                <a:cs typeface="Times New Roman" panose="02020603050405020304" pitchFamily="18" charset="0"/>
                <a:sym typeface="Urbanist SemiBold"/>
              </a:rPr>
              <a:t>UC-02: Evaluation</a:t>
            </a:r>
            <a:endParaRPr b="1" dirty="0">
              <a:latin typeface="Times New Roman" panose="02020603050405020304" pitchFamily="18" charset="0"/>
              <a:cs typeface="Times New Roman" panose="02020603050405020304" pitchFamily="18" charset="0"/>
            </a:endParaRPr>
          </a:p>
        </p:txBody>
      </p:sp>
      <p:sp>
        <p:nvSpPr>
          <p:cNvPr id="121" name="Google Shape;121;p15"/>
          <p:cNvSpPr txBox="1"/>
          <p:nvPr/>
        </p:nvSpPr>
        <p:spPr>
          <a:xfrm>
            <a:off x="4613225" y="3475732"/>
            <a:ext cx="29654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Real-time ingestion of telemetry to assess machine state against unsupervised ML boundaries.</a:t>
            </a:r>
            <a:endParaRPr dirty="0">
              <a:latin typeface="Times New Roman" panose="02020603050405020304" pitchFamily="18" charset="0"/>
              <a:cs typeface="Times New Roman" panose="02020603050405020304" pitchFamily="18" charset="0"/>
            </a:endParaRPr>
          </a:p>
        </p:txBody>
      </p:sp>
      <p:sp>
        <p:nvSpPr>
          <p:cNvPr id="122" name="Google Shape;122;p15"/>
          <p:cNvSpPr txBox="1"/>
          <p:nvPr/>
        </p:nvSpPr>
        <p:spPr>
          <a:xfrm>
            <a:off x="8359675" y="2961382"/>
            <a:ext cx="311382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E11D48"/>
                </a:solidFill>
                <a:latin typeface="Times New Roman" panose="02020603050405020304" pitchFamily="18" charset="0"/>
                <a:ea typeface="Urbanist SemiBold"/>
                <a:cs typeface="Times New Roman" panose="02020603050405020304" pitchFamily="18" charset="0"/>
                <a:sym typeface="Urbanist SemiBold"/>
              </a:rPr>
              <a:t>UC-03: RUL Predict</a:t>
            </a:r>
            <a:endParaRPr b="1" dirty="0">
              <a:latin typeface="Times New Roman" panose="02020603050405020304" pitchFamily="18" charset="0"/>
              <a:cs typeface="Times New Roman" panose="02020603050405020304" pitchFamily="18" charset="0"/>
            </a:endParaRPr>
          </a:p>
        </p:txBody>
      </p:sp>
      <p:sp>
        <p:nvSpPr>
          <p:cNvPr id="123" name="Google Shape;123;p15"/>
          <p:cNvSpPr txBox="1"/>
          <p:nvPr/>
        </p:nvSpPr>
        <p:spPr>
          <a:xfrm>
            <a:off x="8359675" y="3475732"/>
            <a:ext cx="2965549" cy="1333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Activates supervised Linear Regression upon anomaly detection to project Remaining Useful Life based on degradation velocity.</a:t>
            </a:r>
            <a:endParaRPr dirty="0">
              <a:latin typeface="Times New Roman" panose="02020603050405020304" pitchFamily="18" charset="0"/>
              <a:cs typeface="Times New Roman" panose="02020603050405020304" pitchFamily="18" charset="0"/>
            </a:endParaRPr>
          </a:p>
        </p:txBody>
      </p:sp>
      <p:pic>
        <p:nvPicPr>
          <p:cNvPr id="124" name="Google Shape;124;p15" descr="image.png"/>
          <p:cNvPicPr preferRelativeResize="0"/>
          <p:nvPr/>
        </p:nvPicPr>
        <p:blipFill rotWithShape="1">
          <a:blip r:embed="rId7">
            <a:alphaModFix/>
          </a:blip>
          <a:srcRect/>
          <a:stretch/>
        </p:blipFill>
        <p:spPr>
          <a:xfrm>
            <a:off x="866775" y="2266057"/>
            <a:ext cx="381000" cy="381000"/>
          </a:xfrm>
          <a:prstGeom prst="rect">
            <a:avLst/>
          </a:prstGeom>
          <a:noFill/>
          <a:ln>
            <a:noFill/>
          </a:ln>
        </p:spPr>
      </p:pic>
      <p:pic>
        <p:nvPicPr>
          <p:cNvPr id="125" name="Google Shape;125;p15" descr="image.png"/>
          <p:cNvPicPr preferRelativeResize="0"/>
          <p:nvPr/>
        </p:nvPicPr>
        <p:blipFill rotWithShape="1">
          <a:blip r:embed="rId8">
            <a:alphaModFix/>
          </a:blip>
          <a:srcRect/>
          <a:stretch/>
        </p:blipFill>
        <p:spPr>
          <a:xfrm>
            <a:off x="4613225" y="2266057"/>
            <a:ext cx="381000" cy="381000"/>
          </a:xfrm>
          <a:prstGeom prst="rect">
            <a:avLst/>
          </a:prstGeom>
          <a:noFill/>
          <a:ln>
            <a:noFill/>
          </a:ln>
        </p:spPr>
      </p:pic>
      <p:pic>
        <p:nvPicPr>
          <p:cNvPr id="126" name="Google Shape;126;p15" descr="image.png"/>
          <p:cNvPicPr preferRelativeResize="0"/>
          <p:nvPr/>
        </p:nvPicPr>
        <p:blipFill rotWithShape="1">
          <a:blip r:embed="rId9">
            <a:alphaModFix/>
          </a:blip>
          <a:srcRect/>
          <a:stretch/>
        </p:blipFill>
        <p:spPr>
          <a:xfrm>
            <a:off x="8359675" y="2266057"/>
            <a:ext cx="285750" cy="381000"/>
          </a:xfrm>
          <a:prstGeom prst="rect">
            <a:avLst/>
          </a:prstGeom>
          <a:noFill/>
          <a:ln>
            <a:noFill/>
          </a:ln>
        </p:spPr>
      </p:pic>
      <p:pic>
        <p:nvPicPr>
          <p:cNvPr id="2" name="Google Shape;88;p13">
            <a:extLst>
              <a:ext uri="{FF2B5EF4-FFF2-40B4-BE49-F238E27FC236}">
                <a16:creationId xmlns:a16="http://schemas.microsoft.com/office/drawing/2014/main" id="{1E53AC75-E952-997D-4037-B9FACE81D416}"/>
              </a:ext>
            </a:extLst>
          </p:cNvPr>
          <p:cNvPicPr preferRelativeResize="0"/>
          <p:nvPr/>
        </p:nvPicPr>
        <p:blipFill rotWithShape="1">
          <a:blip r:embed="rId10">
            <a:alphaModFix/>
          </a:blip>
          <a:srcRect/>
          <a:stretch/>
        </p:blipFill>
        <p:spPr>
          <a:xfrm>
            <a:off x="10210204" y="393758"/>
            <a:ext cx="1600795" cy="35548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pic>
        <p:nvPicPr>
          <p:cNvPr id="132" name="Google Shape;13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3" name="Google Shape;133;p16" descr="image.png"/>
          <p:cNvPicPr preferRelativeResize="0"/>
          <p:nvPr/>
        </p:nvPicPr>
        <p:blipFill rotWithShape="1">
          <a:blip r:embed="rId4">
            <a:alphaModFix/>
          </a:blip>
          <a:srcRect/>
          <a:stretch/>
        </p:blipFill>
        <p:spPr>
          <a:xfrm>
            <a:off x="6286500" y="3490763"/>
            <a:ext cx="5334000" cy="728364"/>
          </a:xfrm>
          <a:prstGeom prst="rect">
            <a:avLst/>
          </a:prstGeom>
          <a:noFill/>
          <a:ln>
            <a:noFill/>
          </a:ln>
        </p:spPr>
      </p:pic>
      <p:sp>
        <p:nvSpPr>
          <p:cNvPr id="134" name="Google Shape;134;p16"/>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HYBRID ANOMALY DETECTION</a:t>
            </a:r>
            <a:endParaRPr>
              <a:latin typeface="Times New Roman" panose="02020603050405020304" pitchFamily="18" charset="0"/>
              <a:cs typeface="Times New Roman" panose="02020603050405020304" pitchFamily="18" charset="0"/>
            </a:endParaRPr>
          </a:p>
        </p:txBody>
      </p:sp>
      <p:sp>
        <p:nvSpPr>
          <p:cNvPr id="135" name="Google Shape;135;p16"/>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36" name="Google Shape;136;p16"/>
          <p:cNvSpPr txBox="1"/>
          <p:nvPr/>
        </p:nvSpPr>
        <p:spPr>
          <a:xfrm>
            <a:off x="571500" y="2597646"/>
            <a:ext cx="560070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A. Isolation Forest</a:t>
            </a:r>
            <a:endParaRPr>
              <a:latin typeface="Times New Roman" panose="02020603050405020304" pitchFamily="18" charset="0"/>
              <a:cs typeface="Times New Roman" panose="02020603050405020304" pitchFamily="18" charset="0"/>
            </a:endParaRPr>
          </a:p>
        </p:txBody>
      </p:sp>
      <p:sp>
        <p:nvSpPr>
          <p:cNvPr id="137" name="Google Shape;137;p16"/>
          <p:cNvSpPr txBox="1"/>
          <p:nvPr/>
        </p:nvSpPr>
        <p:spPr>
          <a:xfrm>
            <a:off x="571500" y="3111996"/>
            <a:ext cx="5334000"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Identifies multi-vector outliers by isolating data points through decision trees. Anomalies require fewer splits.</a:t>
            </a:r>
            <a:endParaRPr>
              <a:latin typeface="Times New Roman" panose="02020603050405020304" pitchFamily="18" charset="0"/>
              <a:cs typeface="Times New Roman" panose="02020603050405020304" pitchFamily="18" charset="0"/>
            </a:endParaRPr>
          </a:p>
        </p:txBody>
      </p:sp>
      <p:pic>
        <p:nvPicPr>
          <p:cNvPr id="138" name="Google Shape;138;p16" descr="image.png"/>
          <p:cNvPicPr preferRelativeResize="0"/>
          <p:nvPr/>
        </p:nvPicPr>
        <p:blipFill rotWithShape="1">
          <a:blip r:embed="rId5">
            <a:alphaModFix/>
          </a:blip>
          <a:srcRect/>
          <a:stretch/>
        </p:blipFill>
        <p:spPr>
          <a:xfrm>
            <a:off x="571500" y="3835896"/>
            <a:ext cx="5334000" cy="403770"/>
          </a:xfrm>
          <a:prstGeom prst="rect">
            <a:avLst/>
          </a:prstGeom>
          <a:noFill/>
          <a:ln>
            <a:noFill/>
          </a:ln>
        </p:spPr>
      </p:pic>
      <p:sp>
        <p:nvSpPr>
          <p:cNvPr id="139" name="Google Shape;139;p16"/>
          <p:cNvSpPr txBox="1"/>
          <p:nvPr/>
        </p:nvSpPr>
        <p:spPr>
          <a:xfrm>
            <a:off x="571500" y="4506366"/>
            <a:ext cx="560070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B. Z-Score Override</a:t>
            </a:r>
            <a:endParaRPr>
              <a:latin typeface="Times New Roman" panose="02020603050405020304" pitchFamily="18" charset="0"/>
              <a:cs typeface="Times New Roman" panose="02020603050405020304" pitchFamily="18" charset="0"/>
            </a:endParaRPr>
          </a:p>
        </p:txBody>
      </p:sp>
      <p:sp>
        <p:nvSpPr>
          <p:cNvPr id="140" name="Google Shape;140;p16"/>
          <p:cNvSpPr txBox="1"/>
          <p:nvPr/>
        </p:nvSpPr>
        <p:spPr>
          <a:xfrm>
            <a:off x="571500" y="5020716"/>
            <a:ext cx="5334000"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Parallel statistical math to catch rapid linear degradations and prevent "drift blindness."</a:t>
            </a:r>
            <a:endParaRPr>
              <a:latin typeface="Times New Roman" panose="02020603050405020304" pitchFamily="18" charset="0"/>
              <a:cs typeface="Times New Roman" panose="02020603050405020304" pitchFamily="18" charset="0"/>
            </a:endParaRPr>
          </a:p>
        </p:txBody>
      </p:sp>
      <p:sp>
        <p:nvSpPr>
          <p:cNvPr id="141" name="Google Shape;141;p16"/>
          <p:cNvSpPr txBox="1"/>
          <p:nvPr/>
        </p:nvSpPr>
        <p:spPr>
          <a:xfrm>
            <a:off x="6286500" y="4409628"/>
            <a:ext cx="5334000" cy="258532"/>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Override Threshold: </a:t>
            </a:r>
            <a:r>
              <a:rPr lang="en-US" sz="1200" b="1"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|Z| &gt; 3.5</a:t>
            </a:r>
            <a:endParaRPr>
              <a:latin typeface="Times New Roman" panose="02020603050405020304" pitchFamily="18" charset="0"/>
              <a:cs typeface="Times New Roman" panose="02020603050405020304" pitchFamily="18" charset="0"/>
            </a:endParaRPr>
          </a:p>
        </p:txBody>
      </p:sp>
      <p:pic>
        <p:nvPicPr>
          <p:cNvPr id="142" name="Google Shape;142;p16" descr="image.png"/>
          <p:cNvPicPr preferRelativeResize="0"/>
          <p:nvPr/>
        </p:nvPicPr>
        <p:blipFill rotWithShape="1">
          <a:blip r:embed="rId6">
            <a:alphaModFix/>
          </a:blip>
          <a:srcRect/>
          <a:stretch/>
        </p:blipFill>
        <p:spPr>
          <a:xfrm>
            <a:off x="6477000" y="3681263"/>
            <a:ext cx="4953000" cy="347364"/>
          </a:xfrm>
          <a:prstGeom prst="rect">
            <a:avLst/>
          </a:prstGeom>
          <a:noFill/>
          <a:ln>
            <a:noFill/>
          </a:ln>
        </p:spPr>
      </p:pic>
      <p:pic>
        <p:nvPicPr>
          <p:cNvPr id="2" name="Google Shape;88;p13">
            <a:extLst>
              <a:ext uri="{FF2B5EF4-FFF2-40B4-BE49-F238E27FC236}">
                <a16:creationId xmlns:a16="http://schemas.microsoft.com/office/drawing/2014/main" id="{C6788B48-637D-04C3-9C09-EA9FE318632F}"/>
              </a:ext>
            </a:extLst>
          </p:cNvPr>
          <p:cNvPicPr preferRelativeResize="0"/>
          <p:nvPr/>
        </p:nvPicPr>
        <p:blipFill rotWithShape="1">
          <a:blip r:embed="rId7">
            <a:alphaModFix/>
          </a:blip>
          <a:srcRect/>
          <a:stretch/>
        </p:blipFill>
        <p:spPr>
          <a:xfrm>
            <a:off x="10210204" y="393758"/>
            <a:ext cx="1600795" cy="3554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
        <p:cNvGrpSpPr/>
        <p:nvPr/>
      </p:nvGrpSpPr>
      <p:grpSpPr>
        <a:xfrm>
          <a:off x="0" y="0"/>
          <a:ext cx="0" cy="0"/>
          <a:chOff x="0" y="0"/>
          <a:chExt cx="0" cy="0"/>
        </a:xfrm>
      </p:grpSpPr>
      <p:pic>
        <p:nvPicPr>
          <p:cNvPr id="148" name="Google Shape;14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9" name="Google Shape;149;p17"/>
          <p:cNvSpPr txBox="1"/>
          <p:nvPr/>
        </p:nvSpPr>
        <p:spPr>
          <a:xfrm>
            <a:off x="762000" y="950862"/>
            <a:ext cx="50006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RUL FORECASTING</a:t>
            </a:r>
            <a:endParaRPr>
              <a:latin typeface="Times New Roman" panose="02020603050405020304" pitchFamily="18" charset="0"/>
              <a:cs typeface="Times New Roman" panose="02020603050405020304" pitchFamily="18" charset="0"/>
            </a:endParaRPr>
          </a:p>
        </p:txBody>
      </p:sp>
      <p:sp>
        <p:nvSpPr>
          <p:cNvPr id="150" name="Google Shape;150;p17"/>
          <p:cNvSpPr/>
          <p:nvPr/>
        </p:nvSpPr>
        <p:spPr>
          <a:xfrm>
            <a:off x="571500" y="950862"/>
            <a:ext cx="76200" cy="552450"/>
          </a:xfrm>
          <a:prstGeom prst="rect">
            <a:avLst/>
          </a:prstGeom>
          <a:solidFill>
            <a:srgbClr val="FBBF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52" name="Google Shape;152;p17"/>
          <p:cNvSpPr txBox="1"/>
          <p:nvPr/>
        </p:nvSpPr>
        <p:spPr>
          <a:xfrm>
            <a:off x="571500" y="2055762"/>
            <a:ext cx="520065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Linear Regression Engine</a:t>
            </a:r>
            <a:endParaRPr>
              <a:latin typeface="Times New Roman" panose="02020603050405020304" pitchFamily="18" charset="0"/>
              <a:cs typeface="Times New Roman" panose="02020603050405020304" pitchFamily="18" charset="0"/>
            </a:endParaRPr>
          </a:p>
        </p:txBody>
      </p:sp>
      <p:sp>
        <p:nvSpPr>
          <p:cNvPr id="153" name="Google Shape;153;p17"/>
          <p:cNvSpPr txBox="1"/>
          <p:nvPr/>
        </p:nvSpPr>
        <p:spPr>
          <a:xfrm>
            <a:off x="571500" y="2712987"/>
            <a:ext cx="4953000"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Once a fault is latched (3-strike persistence), the system buffers the last 10 seconds of data.</a:t>
            </a:r>
            <a:endParaRPr>
              <a:latin typeface="Times New Roman" panose="02020603050405020304" pitchFamily="18" charset="0"/>
              <a:cs typeface="Times New Roman" panose="02020603050405020304" pitchFamily="18" charset="0"/>
            </a:endParaRPr>
          </a:p>
        </p:txBody>
      </p:sp>
      <p:sp>
        <p:nvSpPr>
          <p:cNvPr id="154" name="Google Shape;154;p17"/>
          <p:cNvSpPr txBox="1"/>
          <p:nvPr/>
        </p:nvSpPr>
        <p:spPr>
          <a:xfrm>
            <a:off x="571500" y="4765327"/>
            <a:ext cx="49530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The </a:t>
            </a:r>
            <a:r>
              <a:rPr lang="en-US" sz="1500" b="1"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slope</a:t>
            </a: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 of the regression hyperplane determines the degradation velocity, providing a deterministic countdown to the NEMA/ISO safety limit.</a:t>
            </a:r>
            <a:endParaRPr>
              <a:latin typeface="Times New Roman" panose="02020603050405020304" pitchFamily="18" charset="0"/>
              <a:cs typeface="Times New Roman" panose="02020603050405020304" pitchFamily="18" charset="0"/>
            </a:endParaRPr>
          </a:p>
        </p:txBody>
      </p:sp>
      <p:pic>
        <p:nvPicPr>
          <p:cNvPr id="155" name="Google Shape;155;p17" descr="image.png"/>
          <p:cNvPicPr preferRelativeResize="0"/>
          <p:nvPr/>
        </p:nvPicPr>
        <p:blipFill rotWithShape="1">
          <a:blip r:embed="rId4">
            <a:alphaModFix/>
          </a:blip>
          <a:srcRect/>
          <a:stretch/>
        </p:blipFill>
        <p:spPr>
          <a:xfrm>
            <a:off x="771525" y="3827412"/>
            <a:ext cx="4552950" cy="356889"/>
          </a:xfrm>
          <a:prstGeom prst="rect">
            <a:avLst/>
          </a:prstGeom>
          <a:noFill/>
          <a:ln>
            <a:noFill/>
          </a:ln>
        </p:spPr>
      </p:pic>
      <p:pic>
        <p:nvPicPr>
          <p:cNvPr id="156" name="Google Shape;156;p17" descr="image.png"/>
          <p:cNvPicPr preferRelativeResize="0"/>
          <p:nvPr/>
        </p:nvPicPr>
        <p:blipFill rotWithShape="1">
          <a:blip r:embed="rId5">
            <a:alphaModFix/>
          </a:blip>
          <a:srcRect/>
          <a:stretch/>
        </p:blipFill>
        <p:spPr>
          <a:xfrm>
            <a:off x="10210204" y="285750"/>
            <a:ext cx="1600795" cy="571500"/>
          </a:xfrm>
          <a:prstGeom prst="rect">
            <a:avLst/>
          </a:prstGeom>
          <a:noFill/>
          <a:ln>
            <a:noFill/>
          </a:ln>
        </p:spPr>
      </p:pic>
      <p:pic>
        <p:nvPicPr>
          <p:cNvPr id="2" name="Google Shape;88;p13">
            <a:extLst>
              <a:ext uri="{FF2B5EF4-FFF2-40B4-BE49-F238E27FC236}">
                <a16:creationId xmlns:a16="http://schemas.microsoft.com/office/drawing/2014/main" id="{18DA1EA9-EAC3-61AC-F77F-9CC195CE34AB}"/>
              </a:ext>
            </a:extLst>
          </p:cNvPr>
          <p:cNvPicPr preferRelativeResize="0"/>
          <p:nvPr/>
        </p:nvPicPr>
        <p:blipFill rotWithShape="1">
          <a:blip r:embed="rId6">
            <a:alphaModFix/>
          </a:blip>
          <a:srcRect/>
          <a:stretch/>
        </p:blipFill>
        <p:spPr>
          <a:xfrm>
            <a:off x="10210204" y="393758"/>
            <a:ext cx="1600795" cy="355483"/>
          </a:xfrm>
          <a:prstGeom prst="rect">
            <a:avLst/>
          </a:prstGeom>
          <a:noFill/>
          <a:ln>
            <a:noFill/>
          </a:ln>
        </p:spPr>
      </p:pic>
      <p:pic>
        <p:nvPicPr>
          <p:cNvPr id="4" name="Picture 3">
            <a:extLst>
              <a:ext uri="{FF2B5EF4-FFF2-40B4-BE49-F238E27FC236}">
                <a16:creationId xmlns:a16="http://schemas.microsoft.com/office/drawing/2014/main" id="{710356C4-68C7-32E3-5232-773E9787C906}"/>
              </a:ext>
            </a:extLst>
          </p:cNvPr>
          <p:cNvPicPr>
            <a:picLocks noChangeAspect="1"/>
          </p:cNvPicPr>
          <p:nvPr/>
        </p:nvPicPr>
        <p:blipFill>
          <a:blip r:embed="rId7"/>
          <a:stretch>
            <a:fillRect/>
          </a:stretch>
        </p:blipFill>
        <p:spPr>
          <a:xfrm>
            <a:off x="5556544" y="2454174"/>
            <a:ext cx="6603411" cy="27656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0"/>
        <p:cNvGrpSpPr/>
        <p:nvPr/>
      </p:nvGrpSpPr>
      <p:grpSpPr>
        <a:xfrm>
          <a:off x="0" y="0"/>
          <a:ext cx="0" cy="0"/>
          <a:chOff x="0" y="0"/>
          <a:chExt cx="0" cy="0"/>
        </a:xfrm>
      </p:grpSpPr>
      <p:pic>
        <p:nvPicPr>
          <p:cNvPr id="161" name="Google Shape;161;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2" name="Google Shape;162;p18"/>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FINITE STATE MACHINE (FSM)</a:t>
            </a:r>
            <a:endParaRPr>
              <a:latin typeface="Times New Roman" panose="02020603050405020304" pitchFamily="18" charset="0"/>
              <a:cs typeface="Times New Roman" panose="02020603050405020304" pitchFamily="18" charset="0"/>
            </a:endParaRPr>
          </a:p>
        </p:txBody>
      </p:sp>
      <p:sp>
        <p:nvSpPr>
          <p:cNvPr id="163" name="Google Shape;163;p18"/>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graphicFrame>
        <p:nvGraphicFramePr>
          <p:cNvPr id="164" name="Google Shape;164;p18"/>
          <p:cNvGraphicFramePr/>
          <p:nvPr/>
        </p:nvGraphicFramePr>
        <p:xfrm>
          <a:off x="571500" y="2370832"/>
          <a:ext cx="11049000" cy="3524325"/>
        </p:xfrm>
        <a:graphic>
          <a:graphicData uri="http://schemas.openxmlformats.org/drawingml/2006/table">
            <a:tbl>
              <a:tblPr firstRow="1" bandRow="1">
                <a:noFill/>
                <a:tableStyleId>{F05F5BB2-E33E-4528-815A-040E142D9B85}</a:tableStyleId>
              </a:tblPr>
              <a:tblGrid>
                <a:gridCol w="111755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7797850">
                  <a:extLst>
                    <a:ext uri="{9D8B030D-6E8A-4147-A177-3AD203B41FA5}">
                      <a16:colId xmlns:a16="http://schemas.microsoft.com/office/drawing/2014/main" val="20002"/>
                    </a:ext>
                  </a:extLst>
                </a:gridCol>
              </a:tblGrid>
              <a:tr h="503475">
                <a:tc>
                  <a:txBody>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State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Name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Logic &amp; Trigger Condition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03475">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State 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Initialization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Boots MQTT, trains baselines, applies Poison Filter to SQLite history.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03475">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State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Rest/Monitoring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Nominal operation. Consecutive anomaly counter is zero.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03475">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State 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Drift Identification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Unverified anomaly (Strike 1 or 2). System holds for confirmation.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03475">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State 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Stage 1 Warning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Latched alarm (Strike 3+). RUL Engine active. Digital Twin alerts.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03475">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State 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Stage 2 Critical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Hard Limit (e.g. &gt;80°C) breached. Emergency Shutdown (ESD) issued.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03475">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State 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Repair Validation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Hysteresis logic: Requires 3 consecutive healthy readings to return to State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165" name="Google Shape;165;p18"/>
          <p:cNvSpPr/>
          <p:nvPr/>
        </p:nvSpPr>
        <p:spPr>
          <a:xfrm>
            <a:off x="571500" y="3356669"/>
            <a:ext cx="11175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66" name="Google Shape;166;p18"/>
          <p:cNvSpPr/>
          <p:nvPr/>
        </p:nvSpPr>
        <p:spPr>
          <a:xfrm>
            <a:off x="1689050" y="3356669"/>
            <a:ext cx="21336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67" name="Google Shape;167;p18"/>
          <p:cNvSpPr/>
          <p:nvPr/>
        </p:nvSpPr>
        <p:spPr>
          <a:xfrm>
            <a:off x="3822650" y="3356669"/>
            <a:ext cx="77978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68" name="Google Shape;168;p18"/>
          <p:cNvSpPr/>
          <p:nvPr/>
        </p:nvSpPr>
        <p:spPr>
          <a:xfrm>
            <a:off x="571500" y="3861494"/>
            <a:ext cx="11175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69" name="Google Shape;169;p18"/>
          <p:cNvSpPr/>
          <p:nvPr/>
        </p:nvSpPr>
        <p:spPr>
          <a:xfrm>
            <a:off x="1689050" y="3861494"/>
            <a:ext cx="21336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0" name="Google Shape;170;p18"/>
          <p:cNvSpPr/>
          <p:nvPr/>
        </p:nvSpPr>
        <p:spPr>
          <a:xfrm>
            <a:off x="3822650" y="3861494"/>
            <a:ext cx="77978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1" name="Google Shape;171;p18"/>
          <p:cNvSpPr/>
          <p:nvPr/>
        </p:nvSpPr>
        <p:spPr>
          <a:xfrm>
            <a:off x="571500" y="4366319"/>
            <a:ext cx="11175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2" name="Google Shape;172;p18"/>
          <p:cNvSpPr/>
          <p:nvPr/>
        </p:nvSpPr>
        <p:spPr>
          <a:xfrm>
            <a:off x="1689050" y="4366319"/>
            <a:ext cx="21336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3" name="Google Shape;173;p18"/>
          <p:cNvSpPr/>
          <p:nvPr/>
        </p:nvSpPr>
        <p:spPr>
          <a:xfrm>
            <a:off x="3822650" y="4366319"/>
            <a:ext cx="77978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4" name="Google Shape;174;p18"/>
          <p:cNvSpPr/>
          <p:nvPr/>
        </p:nvSpPr>
        <p:spPr>
          <a:xfrm>
            <a:off x="571500" y="4871144"/>
            <a:ext cx="11175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5" name="Google Shape;175;p18"/>
          <p:cNvSpPr/>
          <p:nvPr/>
        </p:nvSpPr>
        <p:spPr>
          <a:xfrm>
            <a:off x="1689050" y="4871144"/>
            <a:ext cx="21336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6" name="Google Shape;176;p18"/>
          <p:cNvSpPr/>
          <p:nvPr/>
        </p:nvSpPr>
        <p:spPr>
          <a:xfrm>
            <a:off x="3822650" y="4871144"/>
            <a:ext cx="77978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7" name="Google Shape;177;p18"/>
          <p:cNvSpPr/>
          <p:nvPr/>
        </p:nvSpPr>
        <p:spPr>
          <a:xfrm>
            <a:off x="571500" y="5375969"/>
            <a:ext cx="11175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8" name="Google Shape;178;p18"/>
          <p:cNvSpPr/>
          <p:nvPr/>
        </p:nvSpPr>
        <p:spPr>
          <a:xfrm>
            <a:off x="1689050" y="5375969"/>
            <a:ext cx="21336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9" name="Google Shape;179;p18"/>
          <p:cNvSpPr/>
          <p:nvPr/>
        </p:nvSpPr>
        <p:spPr>
          <a:xfrm>
            <a:off x="3822650" y="5375969"/>
            <a:ext cx="77978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80" name="Google Shape;180;p18"/>
          <p:cNvSpPr/>
          <p:nvPr/>
        </p:nvSpPr>
        <p:spPr>
          <a:xfrm>
            <a:off x="571500" y="5880794"/>
            <a:ext cx="11175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81" name="Google Shape;181;p18"/>
          <p:cNvSpPr/>
          <p:nvPr/>
        </p:nvSpPr>
        <p:spPr>
          <a:xfrm>
            <a:off x="1689050" y="5880794"/>
            <a:ext cx="21336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82" name="Google Shape;182;p18"/>
          <p:cNvSpPr/>
          <p:nvPr/>
        </p:nvSpPr>
        <p:spPr>
          <a:xfrm>
            <a:off x="3822650" y="5880794"/>
            <a:ext cx="77978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2" name="Google Shape;88;p13">
            <a:extLst>
              <a:ext uri="{FF2B5EF4-FFF2-40B4-BE49-F238E27FC236}">
                <a16:creationId xmlns:a16="http://schemas.microsoft.com/office/drawing/2014/main" id="{D0163F81-D852-D5B8-1F75-BD8EA6B02CE3}"/>
              </a:ext>
            </a:extLst>
          </p:cNvPr>
          <p:cNvPicPr preferRelativeResize="0"/>
          <p:nvPr/>
        </p:nvPicPr>
        <p:blipFill rotWithShape="1">
          <a:blip r:embed="rId4">
            <a:alphaModFix/>
          </a:blip>
          <a:srcRect/>
          <a:stretch/>
        </p:blipFill>
        <p:spPr>
          <a:xfrm>
            <a:off x="10210204" y="393758"/>
            <a:ext cx="1600795" cy="3554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pic>
        <p:nvPicPr>
          <p:cNvPr id="188" name="Google Shape;18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9" name="Google Shape;189;p19" descr="image.png"/>
          <p:cNvPicPr preferRelativeResize="0"/>
          <p:nvPr/>
        </p:nvPicPr>
        <p:blipFill rotWithShape="1">
          <a:blip r:embed="rId4">
            <a:alphaModFix/>
          </a:blip>
          <a:srcRect/>
          <a:stretch/>
        </p:blipFill>
        <p:spPr>
          <a:xfrm>
            <a:off x="571500" y="2247007"/>
            <a:ext cx="3555950" cy="2362200"/>
          </a:xfrm>
          <a:prstGeom prst="rect">
            <a:avLst/>
          </a:prstGeom>
          <a:noFill/>
          <a:ln>
            <a:noFill/>
          </a:ln>
        </p:spPr>
      </p:pic>
      <p:pic>
        <p:nvPicPr>
          <p:cNvPr id="190" name="Google Shape;190;p19" descr="image.png"/>
          <p:cNvPicPr preferRelativeResize="0"/>
          <p:nvPr/>
        </p:nvPicPr>
        <p:blipFill rotWithShape="1">
          <a:blip r:embed="rId5">
            <a:alphaModFix/>
          </a:blip>
          <a:srcRect/>
          <a:stretch/>
        </p:blipFill>
        <p:spPr>
          <a:xfrm>
            <a:off x="4317950" y="2247007"/>
            <a:ext cx="3555950" cy="2362200"/>
          </a:xfrm>
          <a:prstGeom prst="rect">
            <a:avLst/>
          </a:prstGeom>
          <a:noFill/>
          <a:ln>
            <a:noFill/>
          </a:ln>
        </p:spPr>
      </p:pic>
      <p:pic>
        <p:nvPicPr>
          <p:cNvPr id="191" name="Google Shape;191;p19" descr="image.png"/>
          <p:cNvPicPr preferRelativeResize="0"/>
          <p:nvPr/>
        </p:nvPicPr>
        <p:blipFill rotWithShape="1">
          <a:blip r:embed="rId6">
            <a:alphaModFix/>
          </a:blip>
          <a:srcRect/>
          <a:stretch/>
        </p:blipFill>
        <p:spPr>
          <a:xfrm>
            <a:off x="8064400" y="2247007"/>
            <a:ext cx="3556099" cy="2362200"/>
          </a:xfrm>
          <a:prstGeom prst="rect">
            <a:avLst/>
          </a:prstGeom>
          <a:noFill/>
          <a:ln>
            <a:noFill/>
          </a:ln>
        </p:spPr>
      </p:pic>
      <p:sp>
        <p:nvSpPr>
          <p:cNvPr id="192" name="Google Shape;192;p19"/>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UML SEQUENCE INTERACTION</a:t>
            </a:r>
            <a:endParaRPr>
              <a:latin typeface="Times New Roman" panose="02020603050405020304" pitchFamily="18" charset="0"/>
              <a:cs typeface="Times New Roman" panose="02020603050405020304" pitchFamily="18" charset="0"/>
            </a:endParaRPr>
          </a:p>
        </p:txBody>
      </p:sp>
      <p:sp>
        <p:nvSpPr>
          <p:cNvPr id="193" name="Google Shape;193;p19"/>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94" name="Google Shape;194;p19" descr="image.png"/>
          <p:cNvPicPr preferRelativeResize="0"/>
          <p:nvPr/>
        </p:nvPicPr>
        <p:blipFill rotWithShape="1">
          <a:blip r:embed="rId7">
            <a:alphaModFix/>
          </a:blip>
          <a:srcRect/>
          <a:stretch/>
        </p:blipFill>
        <p:spPr>
          <a:xfrm>
            <a:off x="5972175" y="4894957"/>
            <a:ext cx="247650" cy="285750"/>
          </a:xfrm>
          <a:prstGeom prst="rect">
            <a:avLst/>
          </a:prstGeom>
          <a:noFill/>
          <a:ln>
            <a:noFill/>
          </a:ln>
        </p:spPr>
      </p:pic>
      <p:sp>
        <p:nvSpPr>
          <p:cNvPr id="195" name="Google Shape;195;p19"/>
          <p:cNvSpPr txBox="1"/>
          <p:nvPr/>
        </p:nvSpPr>
        <p:spPr>
          <a:xfrm>
            <a:off x="571500" y="5371207"/>
            <a:ext cx="11049000" cy="3231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Latency Optimized:</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End-to-end processing &lt; </a:t>
            </a:r>
            <a:r>
              <a:rPr lang="en-US" sz="1500" dirty="0">
                <a:solidFill>
                  <a:srgbClr val="475569"/>
                </a:solidFill>
                <a:latin typeface="Times New Roman" panose="02020603050405020304" pitchFamily="18" charset="0"/>
                <a:ea typeface="Urbanist"/>
                <a:cs typeface="Times New Roman" panose="02020603050405020304" pitchFamily="18" charset="0"/>
                <a:sym typeface="Urbanist"/>
              </a:rPr>
              <a:t>80</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ms.</a:t>
            </a:r>
            <a:endParaRPr dirty="0">
              <a:latin typeface="Times New Roman" panose="02020603050405020304" pitchFamily="18" charset="0"/>
              <a:cs typeface="Times New Roman" panose="02020603050405020304" pitchFamily="18" charset="0"/>
            </a:endParaRPr>
          </a:p>
        </p:txBody>
      </p:sp>
      <p:sp>
        <p:nvSpPr>
          <p:cNvPr id="196" name="Google Shape;196;p19"/>
          <p:cNvSpPr txBox="1"/>
          <p:nvPr/>
        </p:nvSpPr>
        <p:spPr>
          <a:xfrm>
            <a:off x="866775" y="2808982"/>
            <a:ext cx="311367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1. Perception</a:t>
            </a:r>
            <a:endParaRPr>
              <a:latin typeface="Times New Roman" panose="02020603050405020304" pitchFamily="18" charset="0"/>
              <a:cs typeface="Times New Roman" panose="02020603050405020304" pitchFamily="18" charset="0"/>
            </a:endParaRPr>
          </a:p>
        </p:txBody>
      </p:sp>
      <p:sp>
        <p:nvSpPr>
          <p:cNvPr id="197" name="Google Shape;197;p19"/>
          <p:cNvSpPr txBox="1"/>
          <p:nvPr/>
        </p:nvSpPr>
        <p:spPr>
          <a:xfrm>
            <a:off x="866775" y="3323332"/>
            <a:ext cx="29654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Sensor Simulator publishes Raw Telemetry (JSON) to Mosquitto Broker at 1 Hz.</a:t>
            </a:r>
            <a:endParaRPr>
              <a:latin typeface="Times New Roman" panose="02020603050405020304" pitchFamily="18" charset="0"/>
              <a:cs typeface="Times New Roman" panose="02020603050405020304" pitchFamily="18" charset="0"/>
            </a:endParaRPr>
          </a:p>
        </p:txBody>
      </p:sp>
      <p:sp>
        <p:nvSpPr>
          <p:cNvPr id="198" name="Google Shape;198;p19"/>
          <p:cNvSpPr txBox="1"/>
          <p:nvPr/>
        </p:nvSpPr>
        <p:spPr>
          <a:xfrm>
            <a:off x="4613225" y="2808982"/>
            <a:ext cx="311367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2. Intelligence</a:t>
            </a:r>
            <a:endParaRPr>
              <a:latin typeface="Times New Roman" panose="02020603050405020304" pitchFamily="18" charset="0"/>
              <a:cs typeface="Times New Roman" panose="02020603050405020304" pitchFamily="18" charset="0"/>
            </a:endParaRPr>
          </a:p>
        </p:txBody>
      </p:sp>
      <p:sp>
        <p:nvSpPr>
          <p:cNvPr id="199" name="Google Shape;199;p19"/>
          <p:cNvSpPr txBox="1"/>
          <p:nvPr/>
        </p:nvSpPr>
        <p:spPr>
          <a:xfrm>
            <a:off x="4613225" y="3323332"/>
            <a:ext cx="29654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Edge AI Node parses payload, applies Smoothing, runs Hybrid Inference, and logs to SQLite.</a:t>
            </a:r>
            <a:endParaRPr>
              <a:latin typeface="Times New Roman" panose="02020603050405020304" pitchFamily="18" charset="0"/>
              <a:cs typeface="Times New Roman" panose="02020603050405020304" pitchFamily="18" charset="0"/>
            </a:endParaRPr>
          </a:p>
        </p:txBody>
      </p:sp>
      <p:sp>
        <p:nvSpPr>
          <p:cNvPr id="200" name="Google Shape;200;p19"/>
          <p:cNvSpPr txBox="1"/>
          <p:nvPr/>
        </p:nvSpPr>
        <p:spPr>
          <a:xfrm>
            <a:off x="8359675" y="2808982"/>
            <a:ext cx="311382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3. Presentation</a:t>
            </a:r>
            <a:endParaRPr>
              <a:latin typeface="Times New Roman" panose="02020603050405020304" pitchFamily="18" charset="0"/>
              <a:cs typeface="Times New Roman" panose="02020603050405020304" pitchFamily="18" charset="0"/>
            </a:endParaRPr>
          </a:p>
        </p:txBody>
      </p:sp>
      <p:sp>
        <p:nvSpPr>
          <p:cNvPr id="201" name="Google Shape;201;p19"/>
          <p:cNvSpPr txBox="1"/>
          <p:nvPr/>
        </p:nvSpPr>
        <p:spPr>
          <a:xfrm>
            <a:off x="8359675" y="3323332"/>
            <a:ext cx="29655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Streamlit Dashboard polls SQLite asynchronously, renders Plotly charts and RUL countdown.</a:t>
            </a:r>
            <a:endParaRPr>
              <a:latin typeface="Times New Roman" panose="02020603050405020304" pitchFamily="18" charset="0"/>
              <a:cs typeface="Times New Roman" panose="02020603050405020304" pitchFamily="18" charset="0"/>
            </a:endParaRPr>
          </a:p>
        </p:txBody>
      </p:sp>
      <p:pic>
        <p:nvPicPr>
          <p:cNvPr id="2" name="Google Shape;88;p13">
            <a:extLst>
              <a:ext uri="{FF2B5EF4-FFF2-40B4-BE49-F238E27FC236}">
                <a16:creationId xmlns:a16="http://schemas.microsoft.com/office/drawing/2014/main" id="{EBC0AA90-D528-9812-EF91-E4FE4E19D3EE}"/>
              </a:ext>
            </a:extLst>
          </p:cNvPr>
          <p:cNvPicPr preferRelativeResize="0"/>
          <p:nvPr/>
        </p:nvPicPr>
        <p:blipFill rotWithShape="1">
          <a:blip r:embed="rId8">
            <a:alphaModFix/>
          </a:blip>
          <a:srcRect/>
          <a:stretch/>
        </p:blipFill>
        <p:spPr>
          <a:xfrm>
            <a:off x="10210204" y="393758"/>
            <a:ext cx="1600795" cy="3554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pic>
        <p:nvPicPr>
          <p:cNvPr id="225" name="Google Shape;22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6" name="Google Shape;226;p21" descr="image.png"/>
          <p:cNvPicPr preferRelativeResize="0"/>
          <p:nvPr/>
        </p:nvPicPr>
        <p:blipFill rotWithShape="1">
          <a:blip r:embed="rId4">
            <a:alphaModFix/>
          </a:blip>
          <a:srcRect/>
          <a:stretch/>
        </p:blipFill>
        <p:spPr>
          <a:xfrm>
            <a:off x="6286500" y="3213794"/>
            <a:ext cx="5334000" cy="1647825"/>
          </a:xfrm>
          <a:prstGeom prst="rect">
            <a:avLst/>
          </a:prstGeom>
          <a:noFill/>
          <a:ln>
            <a:noFill/>
          </a:ln>
        </p:spPr>
      </p:pic>
      <p:sp>
        <p:nvSpPr>
          <p:cNvPr id="227" name="Google Shape;227;p21"/>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JSON MESSAGING SCHEMA</a:t>
            </a:r>
            <a:endParaRPr>
              <a:latin typeface="Times New Roman" panose="02020603050405020304" pitchFamily="18" charset="0"/>
              <a:cs typeface="Times New Roman" panose="02020603050405020304" pitchFamily="18" charset="0"/>
            </a:endParaRPr>
          </a:p>
        </p:txBody>
      </p:sp>
      <p:sp>
        <p:nvSpPr>
          <p:cNvPr id="228" name="Google Shape;228;p21"/>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29" name="Google Shape;229;p21"/>
          <p:cNvSpPr txBox="1"/>
          <p:nvPr/>
        </p:nvSpPr>
        <p:spPr>
          <a:xfrm>
            <a:off x="571500" y="3009007"/>
            <a:ext cx="560070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Diagnostic Payload</a:t>
            </a:r>
            <a:endParaRPr>
              <a:latin typeface="Times New Roman" panose="02020603050405020304" pitchFamily="18" charset="0"/>
              <a:cs typeface="Times New Roman" panose="02020603050405020304" pitchFamily="18" charset="0"/>
            </a:endParaRPr>
          </a:p>
        </p:txBody>
      </p:sp>
      <p:sp>
        <p:nvSpPr>
          <p:cNvPr id="230" name="Google Shape;230;p21"/>
          <p:cNvSpPr txBox="1"/>
          <p:nvPr/>
        </p:nvSpPr>
        <p:spPr>
          <a:xfrm>
            <a:off x="571500" y="3523357"/>
            <a:ext cx="5334000"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Upon fault identification, the system dynamically generates Root-Cause Analysis (RCA) metadata.</a:t>
            </a:r>
            <a:endParaRPr>
              <a:latin typeface="Times New Roman" panose="02020603050405020304" pitchFamily="18" charset="0"/>
              <a:cs typeface="Times New Roman" panose="02020603050405020304" pitchFamily="18" charset="0"/>
            </a:endParaRPr>
          </a:p>
        </p:txBody>
      </p:sp>
      <p:sp>
        <p:nvSpPr>
          <p:cNvPr id="231" name="Google Shape;231;p21"/>
          <p:cNvSpPr txBox="1"/>
          <p:nvPr/>
        </p:nvSpPr>
        <p:spPr>
          <a:xfrm>
            <a:off x="771525" y="4247257"/>
            <a:ext cx="381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a:t>
            </a:r>
            <a:endParaRPr>
              <a:latin typeface="Times New Roman" panose="02020603050405020304" pitchFamily="18" charset="0"/>
              <a:cs typeface="Times New Roman" panose="02020603050405020304" pitchFamily="18" charset="0"/>
            </a:endParaRPr>
          </a:p>
        </p:txBody>
      </p:sp>
      <p:sp>
        <p:nvSpPr>
          <p:cNvPr id="232" name="Google Shape;232;p21"/>
          <p:cNvSpPr txBox="1"/>
          <p:nvPr/>
        </p:nvSpPr>
        <p:spPr>
          <a:xfrm>
            <a:off x="809625" y="4247257"/>
            <a:ext cx="5095875" cy="323165"/>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Status &amp; Message tags.</a:t>
            </a:r>
            <a:endParaRPr>
              <a:latin typeface="Times New Roman" panose="02020603050405020304" pitchFamily="18" charset="0"/>
              <a:cs typeface="Times New Roman" panose="02020603050405020304" pitchFamily="18" charset="0"/>
            </a:endParaRPr>
          </a:p>
        </p:txBody>
      </p:sp>
      <p:sp>
        <p:nvSpPr>
          <p:cNvPr id="233" name="Google Shape;233;p21"/>
          <p:cNvSpPr txBox="1"/>
          <p:nvPr/>
        </p:nvSpPr>
        <p:spPr>
          <a:xfrm>
            <a:off x="771525" y="4609207"/>
            <a:ext cx="381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a:t>
            </a:r>
            <a:endParaRPr>
              <a:latin typeface="Times New Roman" panose="02020603050405020304" pitchFamily="18" charset="0"/>
              <a:cs typeface="Times New Roman" panose="02020603050405020304" pitchFamily="18" charset="0"/>
            </a:endParaRPr>
          </a:p>
        </p:txBody>
      </p:sp>
      <p:sp>
        <p:nvSpPr>
          <p:cNvPr id="234" name="Google Shape;234;p21"/>
          <p:cNvSpPr txBox="1"/>
          <p:nvPr/>
        </p:nvSpPr>
        <p:spPr>
          <a:xfrm>
            <a:off x="809625" y="4609207"/>
            <a:ext cx="5095875" cy="323165"/>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Faulty Sensor ID.</a:t>
            </a:r>
            <a:endParaRPr>
              <a:latin typeface="Times New Roman" panose="02020603050405020304" pitchFamily="18" charset="0"/>
              <a:cs typeface="Times New Roman" panose="02020603050405020304" pitchFamily="18" charset="0"/>
            </a:endParaRPr>
          </a:p>
        </p:txBody>
      </p:sp>
      <p:sp>
        <p:nvSpPr>
          <p:cNvPr id="235" name="Google Shape;235;p21"/>
          <p:cNvSpPr txBox="1"/>
          <p:nvPr/>
        </p:nvSpPr>
        <p:spPr>
          <a:xfrm>
            <a:off x="771525" y="4971157"/>
            <a:ext cx="381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a:t>
            </a:r>
            <a:endParaRPr>
              <a:latin typeface="Times New Roman" panose="02020603050405020304" pitchFamily="18" charset="0"/>
              <a:cs typeface="Times New Roman" panose="02020603050405020304" pitchFamily="18" charset="0"/>
            </a:endParaRPr>
          </a:p>
        </p:txBody>
      </p:sp>
      <p:sp>
        <p:nvSpPr>
          <p:cNvPr id="236" name="Google Shape;236;p21"/>
          <p:cNvSpPr txBox="1"/>
          <p:nvPr/>
        </p:nvSpPr>
        <p:spPr>
          <a:xfrm>
            <a:off x="809625" y="4971157"/>
            <a:ext cx="5095875" cy="323165"/>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Prognostic Confidence markers.</a:t>
            </a:r>
            <a:endParaRPr>
              <a:latin typeface="Times New Roman" panose="02020603050405020304" pitchFamily="18" charset="0"/>
              <a:cs typeface="Times New Roman" panose="02020603050405020304" pitchFamily="18" charset="0"/>
            </a:endParaRPr>
          </a:p>
        </p:txBody>
      </p:sp>
      <p:pic>
        <p:nvPicPr>
          <p:cNvPr id="2" name="Google Shape;88;p13">
            <a:extLst>
              <a:ext uri="{FF2B5EF4-FFF2-40B4-BE49-F238E27FC236}">
                <a16:creationId xmlns:a16="http://schemas.microsoft.com/office/drawing/2014/main" id="{669CBDC8-8AE2-3FF9-D439-AAE66D093B91}"/>
              </a:ext>
            </a:extLst>
          </p:cNvPr>
          <p:cNvPicPr preferRelativeResize="0"/>
          <p:nvPr/>
        </p:nvPicPr>
        <p:blipFill rotWithShape="1">
          <a:blip r:embed="rId5">
            <a:alphaModFix/>
          </a:blip>
          <a:srcRect/>
          <a:stretch/>
        </p:blipFill>
        <p:spPr>
          <a:xfrm>
            <a:off x="10210204" y="393758"/>
            <a:ext cx="1600795" cy="35548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p:cNvGrpSpPr/>
        <p:nvPr/>
      </p:nvGrpSpPr>
      <p:grpSpPr>
        <a:xfrm>
          <a:off x="0" y="0"/>
          <a:ext cx="0" cy="0"/>
          <a:chOff x="0" y="0"/>
          <a:chExt cx="0" cy="0"/>
        </a:xfrm>
      </p:grpSpPr>
      <p:pic>
        <p:nvPicPr>
          <p:cNvPr id="242" name="Google Shape;24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3" name="Google Shape;243;p22" descr="image.png"/>
          <p:cNvPicPr preferRelativeResize="0"/>
          <p:nvPr/>
        </p:nvPicPr>
        <p:blipFill rotWithShape="1">
          <a:blip r:embed="rId4">
            <a:alphaModFix/>
          </a:blip>
          <a:srcRect/>
          <a:stretch/>
        </p:blipFill>
        <p:spPr>
          <a:xfrm>
            <a:off x="571500" y="2494657"/>
            <a:ext cx="3555950" cy="3086100"/>
          </a:xfrm>
          <a:prstGeom prst="rect">
            <a:avLst/>
          </a:prstGeom>
          <a:noFill/>
          <a:ln>
            <a:noFill/>
          </a:ln>
        </p:spPr>
      </p:pic>
      <p:pic>
        <p:nvPicPr>
          <p:cNvPr id="244" name="Google Shape;244;p22" descr="image.png"/>
          <p:cNvPicPr preferRelativeResize="0"/>
          <p:nvPr/>
        </p:nvPicPr>
        <p:blipFill rotWithShape="1">
          <a:blip r:embed="rId5">
            <a:alphaModFix/>
          </a:blip>
          <a:srcRect/>
          <a:stretch/>
        </p:blipFill>
        <p:spPr>
          <a:xfrm>
            <a:off x="4317950" y="2494657"/>
            <a:ext cx="3555950" cy="3086100"/>
          </a:xfrm>
          <a:prstGeom prst="rect">
            <a:avLst/>
          </a:prstGeom>
          <a:noFill/>
          <a:ln>
            <a:noFill/>
          </a:ln>
        </p:spPr>
      </p:pic>
      <p:pic>
        <p:nvPicPr>
          <p:cNvPr id="245" name="Google Shape;245;p22" descr="image.png"/>
          <p:cNvPicPr preferRelativeResize="0"/>
          <p:nvPr/>
        </p:nvPicPr>
        <p:blipFill rotWithShape="1">
          <a:blip r:embed="rId6">
            <a:alphaModFix/>
          </a:blip>
          <a:srcRect/>
          <a:stretch/>
        </p:blipFill>
        <p:spPr>
          <a:xfrm>
            <a:off x="8064400" y="2494657"/>
            <a:ext cx="3556099" cy="3086100"/>
          </a:xfrm>
          <a:prstGeom prst="rect">
            <a:avLst/>
          </a:prstGeom>
          <a:noFill/>
          <a:ln>
            <a:noFill/>
          </a:ln>
        </p:spPr>
      </p:pic>
      <p:sp>
        <p:nvSpPr>
          <p:cNvPr id="246" name="Google Shape;246;p22"/>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VALIDATION &amp; PERFORMANCE</a:t>
            </a:r>
            <a:endParaRPr>
              <a:latin typeface="Times New Roman" panose="02020603050405020304" pitchFamily="18" charset="0"/>
              <a:cs typeface="Times New Roman" panose="02020603050405020304" pitchFamily="18" charset="0"/>
            </a:endParaRPr>
          </a:p>
        </p:txBody>
      </p:sp>
      <p:sp>
        <p:nvSpPr>
          <p:cNvPr id="247" name="Google Shape;247;p22"/>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48" name="Google Shape;248;p22"/>
          <p:cNvSpPr txBox="1"/>
          <p:nvPr/>
        </p:nvSpPr>
        <p:spPr>
          <a:xfrm>
            <a:off x="866775" y="3513832"/>
            <a:ext cx="311367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Unit Testing</a:t>
            </a:r>
            <a:endParaRPr>
              <a:latin typeface="Times New Roman" panose="02020603050405020304" pitchFamily="18" charset="0"/>
              <a:cs typeface="Times New Roman" panose="02020603050405020304" pitchFamily="18" charset="0"/>
            </a:endParaRPr>
          </a:p>
        </p:txBody>
      </p:sp>
      <p:sp>
        <p:nvSpPr>
          <p:cNvPr id="249" name="Google Shape;249;p22"/>
          <p:cNvSpPr txBox="1"/>
          <p:nvPr/>
        </p:nvSpPr>
        <p:spPr>
          <a:xfrm>
            <a:off x="866775" y="4028182"/>
            <a:ext cx="29654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Verified +1.0°C/sec slope detection and Gaussian noise filtering (&lt; 2% variance).</a:t>
            </a:r>
            <a:endParaRPr>
              <a:latin typeface="Times New Roman" panose="02020603050405020304" pitchFamily="18" charset="0"/>
              <a:cs typeface="Times New Roman" panose="02020603050405020304" pitchFamily="18" charset="0"/>
            </a:endParaRPr>
          </a:p>
        </p:txBody>
      </p:sp>
      <p:sp>
        <p:nvSpPr>
          <p:cNvPr id="250" name="Google Shape;250;p22"/>
          <p:cNvSpPr txBox="1"/>
          <p:nvPr/>
        </p:nvSpPr>
        <p:spPr>
          <a:xfrm>
            <a:off x="4613225" y="3513832"/>
            <a:ext cx="311367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Integration</a:t>
            </a:r>
            <a:endParaRPr>
              <a:latin typeface="Times New Roman" panose="02020603050405020304" pitchFamily="18" charset="0"/>
              <a:cs typeface="Times New Roman" panose="02020603050405020304" pitchFamily="18" charset="0"/>
            </a:endParaRPr>
          </a:p>
        </p:txBody>
      </p:sp>
      <p:sp>
        <p:nvSpPr>
          <p:cNvPr id="251" name="Google Shape;251;p22"/>
          <p:cNvSpPr txBox="1"/>
          <p:nvPr/>
        </p:nvSpPr>
        <p:spPr>
          <a:xfrm>
            <a:off x="4613225" y="4028182"/>
            <a:ext cx="29654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Validated concurrent SQL read/write and 1 Hz MQTT throughput with zero database lockout.</a:t>
            </a:r>
            <a:endParaRPr>
              <a:latin typeface="Times New Roman" panose="02020603050405020304" pitchFamily="18" charset="0"/>
              <a:cs typeface="Times New Roman" panose="02020603050405020304" pitchFamily="18" charset="0"/>
            </a:endParaRPr>
          </a:p>
        </p:txBody>
      </p:sp>
      <p:sp>
        <p:nvSpPr>
          <p:cNvPr id="252" name="Google Shape;252;p22"/>
          <p:cNvSpPr txBox="1"/>
          <p:nvPr/>
        </p:nvSpPr>
        <p:spPr>
          <a:xfrm>
            <a:off x="8359675" y="3513832"/>
            <a:ext cx="311382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Performance</a:t>
            </a:r>
            <a:endParaRPr>
              <a:latin typeface="Times New Roman" panose="02020603050405020304" pitchFamily="18" charset="0"/>
              <a:cs typeface="Times New Roman" panose="02020603050405020304" pitchFamily="18" charset="0"/>
            </a:endParaRPr>
          </a:p>
        </p:txBody>
      </p:sp>
      <p:sp>
        <p:nvSpPr>
          <p:cNvPr id="253" name="Google Shape;253;p22"/>
          <p:cNvSpPr txBox="1"/>
          <p:nvPr/>
        </p:nvSpPr>
        <p:spPr>
          <a:xfrm>
            <a:off x="8359675" y="4028182"/>
            <a:ext cx="2965549"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Avg Latency: </a:t>
            </a:r>
            <a:r>
              <a:rPr lang="en-US" sz="1500" b="1" dirty="0">
                <a:solidFill>
                  <a:srgbClr val="475569"/>
                </a:solidFill>
                <a:latin typeface="Times New Roman" panose="02020603050405020304" pitchFamily="18" charset="0"/>
                <a:ea typeface="Urbanist"/>
                <a:cs typeface="Times New Roman" panose="02020603050405020304" pitchFamily="18" charset="0"/>
                <a:sym typeface="Urbanist"/>
              </a:rPr>
              <a:t>30</a:t>
            </a: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-80ms</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(Exceeding NFR-01 target of 100ms).</a:t>
            </a:r>
            <a:endParaRPr dirty="0">
              <a:latin typeface="Times New Roman" panose="02020603050405020304" pitchFamily="18" charset="0"/>
              <a:cs typeface="Times New Roman" panose="02020603050405020304" pitchFamily="18" charset="0"/>
            </a:endParaRPr>
          </a:p>
        </p:txBody>
      </p:sp>
      <p:pic>
        <p:nvPicPr>
          <p:cNvPr id="254" name="Google Shape;254;p22" descr="image.png"/>
          <p:cNvPicPr preferRelativeResize="0"/>
          <p:nvPr/>
        </p:nvPicPr>
        <p:blipFill rotWithShape="1">
          <a:blip r:embed="rId7">
            <a:alphaModFix/>
          </a:blip>
          <a:srcRect/>
          <a:stretch/>
        </p:blipFill>
        <p:spPr>
          <a:xfrm>
            <a:off x="866775" y="2818507"/>
            <a:ext cx="333375" cy="381000"/>
          </a:xfrm>
          <a:prstGeom prst="rect">
            <a:avLst/>
          </a:prstGeom>
          <a:noFill/>
          <a:ln>
            <a:noFill/>
          </a:ln>
        </p:spPr>
      </p:pic>
      <p:pic>
        <p:nvPicPr>
          <p:cNvPr id="255" name="Google Shape;255;p22" descr="image.png"/>
          <p:cNvPicPr preferRelativeResize="0"/>
          <p:nvPr/>
        </p:nvPicPr>
        <p:blipFill rotWithShape="1">
          <a:blip r:embed="rId8">
            <a:alphaModFix/>
          </a:blip>
          <a:srcRect/>
          <a:stretch/>
        </p:blipFill>
        <p:spPr>
          <a:xfrm>
            <a:off x="4613225" y="2818507"/>
            <a:ext cx="476250" cy="381000"/>
          </a:xfrm>
          <a:prstGeom prst="rect">
            <a:avLst/>
          </a:prstGeom>
          <a:noFill/>
          <a:ln>
            <a:noFill/>
          </a:ln>
        </p:spPr>
      </p:pic>
      <p:pic>
        <p:nvPicPr>
          <p:cNvPr id="256" name="Google Shape;256;p22" descr="image.png"/>
          <p:cNvPicPr preferRelativeResize="0"/>
          <p:nvPr/>
        </p:nvPicPr>
        <p:blipFill rotWithShape="1">
          <a:blip r:embed="rId9">
            <a:alphaModFix/>
          </a:blip>
          <a:srcRect/>
          <a:stretch/>
        </p:blipFill>
        <p:spPr>
          <a:xfrm>
            <a:off x="8359675" y="2818507"/>
            <a:ext cx="381000" cy="381000"/>
          </a:xfrm>
          <a:prstGeom prst="rect">
            <a:avLst/>
          </a:prstGeom>
          <a:noFill/>
          <a:ln>
            <a:noFill/>
          </a:ln>
        </p:spPr>
      </p:pic>
      <p:pic>
        <p:nvPicPr>
          <p:cNvPr id="2" name="Google Shape;88;p13">
            <a:extLst>
              <a:ext uri="{FF2B5EF4-FFF2-40B4-BE49-F238E27FC236}">
                <a16:creationId xmlns:a16="http://schemas.microsoft.com/office/drawing/2014/main" id="{F5F2E233-296F-0BB4-5891-D88D69F5D57F}"/>
              </a:ext>
            </a:extLst>
          </p:cNvPr>
          <p:cNvPicPr preferRelativeResize="0"/>
          <p:nvPr/>
        </p:nvPicPr>
        <p:blipFill rotWithShape="1">
          <a:blip r:embed="rId10">
            <a:alphaModFix/>
          </a:blip>
          <a:srcRect/>
          <a:stretch/>
        </p:blipFill>
        <p:spPr>
          <a:xfrm>
            <a:off x="10210204" y="393758"/>
            <a:ext cx="1600795" cy="35548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pic>
        <p:nvPicPr>
          <p:cNvPr id="262" name="Google Shape;262;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3" name="Google Shape;263;p23"/>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Times New Roman" panose="02020603050405020304" pitchFamily="18" charset="0"/>
                <a:ea typeface="Urbanist"/>
                <a:cs typeface="Times New Roman" panose="02020603050405020304" pitchFamily="18" charset="0"/>
                <a:sym typeface="Urbanist"/>
              </a:rPr>
              <a:t>DEPLOYMENT MANUAL</a:t>
            </a:r>
            <a:endParaRPr>
              <a:latin typeface="Times New Roman" panose="02020603050405020304" pitchFamily="18" charset="0"/>
              <a:cs typeface="Times New Roman" panose="02020603050405020304" pitchFamily="18" charset="0"/>
            </a:endParaRPr>
          </a:p>
        </p:txBody>
      </p:sp>
      <p:sp>
        <p:nvSpPr>
          <p:cNvPr id="264" name="Google Shape;264;p23"/>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65" name="Google Shape;265;p23"/>
          <p:cNvSpPr txBox="1"/>
          <p:nvPr/>
        </p:nvSpPr>
        <p:spPr>
          <a:xfrm>
            <a:off x="571500" y="4890194"/>
            <a:ext cx="11049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E11D48"/>
                </a:solidFill>
                <a:latin typeface="Times New Roman" panose="02020603050405020304" pitchFamily="18" charset="0"/>
                <a:ea typeface="Urbanist"/>
                <a:cs typeface="Times New Roman" panose="02020603050405020304" pitchFamily="18" charset="0"/>
                <a:sym typeface="Urbanist"/>
              </a:rPr>
              <a:t>Master Command: python run_all.py</a:t>
            </a:r>
            <a:endParaRPr>
              <a:latin typeface="Times New Roman" panose="02020603050405020304" pitchFamily="18" charset="0"/>
              <a:cs typeface="Times New Roman" panose="02020603050405020304" pitchFamily="18" charset="0"/>
            </a:endParaRPr>
          </a:p>
        </p:txBody>
      </p:sp>
      <p:sp>
        <p:nvSpPr>
          <p:cNvPr id="267" name="Google Shape;267;p23"/>
          <p:cNvSpPr txBox="1"/>
          <p:nvPr/>
        </p:nvSpPr>
        <p:spPr>
          <a:xfrm>
            <a:off x="571500" y="2896811"/>
            <a:ext cx="10668000" cy="1529650"/>
          </a:xfrm>
          <a:prstGeom prst="rect">
            <a:avLst/>
          </a:prstGeom>
          <a:noFill/>
          <a:ln>
            <a:noFill/>
          </a:ln>
        </p:spPr>
        <p:txBody>
          <a:bodyPr spcFirstLastPara="1" wrap="square" lIns="85725" tIns="0" rIns="0" bIns="0" anchor="t" anchorCtr="0">
            <a:spAutoFit/>
          </a:bodyPr>
          <a:lstStyle/>
          <a:p>
            <a:pPr marL="0" marR="0" lvl="0" indent="0" algn="l" rtl="0">
              <a:lnSpc>
                <a:spcPct val="140000"/>
              </a:lnSpc>
              <a:spcBef>
                <a:spcPts val="0"/>
              </a:spcBef>
              <a:spcAft>
                <a:spcPts val="0"/>
              </a:spcAft>
              <a:buNone/>
            </a:pPr>
            <a:r>
              <a:rPr lang="en-US" sz="1500" b="1"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1. Environment:</a:t>
            </a: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 Run pip install -r requirements.txt to setup ML and MQTT frameworks.</a:t>
            </a:r>
          </a:p>
          <a:p>
            <a:pPr>
              <a:lnSpc>
                <a:spcPct val="140000"/>
              </a:lnSpc>
            </a:pPr>
            <a:r>
              <a:rPr lang="en-US" b="1" dirty="0">
                <a:solidFill>
                  <a:srgbClr val="475569"/>
                </a:solidFill>
                <a:latin typeface="Times New Roman" panose="02020603050405020304" pitchFamily="18" charset="0"/>
                <a:ea typeface="Urbanist"/>
                <a:cs typeface="Times New Roman" panose="02020603050405020304" pitchFamily="18" charset="0"/>
                <a:sym typeface="Urbanist"/>
              </a:rPr>
              <a:t>2. Connectivity:</a:t>
            </a:r>
            <a:r>
              <a:rPr lang="en-US" dirty="0">
                <a:solidFill>
                  <a:srgbClr val="475569"/>
                </a:solidFill>
                <a:latin typeface="Times New Roman" panose="02020603050405020304" pitchFamily="18" charset="0"/>
                <a:ea typeface="Urbanist"/>
                <a:cs typeface="Times New Roman" panose="02020603050405020304" pitchFamily="18" charset="0"/>
                <a:sym typeface="Urbanist"/>
              </a:rPr>
              <a:t> Start Mosquitto Broker on Port 1883.</a:t>
            </a:r>
          </a:p>
          <a:p>
            <a:pPr>
              <a:lnSpc>
                <a:spcPct val="140000"/>
              </a:lnSpc>
            </a:pPr>
            <a:r>
              <a:rPr lang="en-US" b="1" dirty="0">
                <a:solidFill>
                  <a:srgbClr val="475569"/>
                </a:solidFill>
                <a:latin typeface="Times New Roman" panose="02020603050405020304" pitchFamily="18" charset="0"/>
                <a:ea typeface="Urbanist"/>
                <a:cs typeface="Times New Roman" panose="02020603050405020304" pitchFamily="18" charset="0"/>
                <a:sym typeface="Urbanist"/>
              </a:rPr>
              <a:t>3. Simulation:</a:t>
            </a:r>
            <a:r>
              <a:rPr lang="en-US" dirty="0">
                <a:solidFill>
                  <a:srgbClr val="475569"/>
                </a:solidFill>
                <a:latin typeface="Times New Roman" panose="02020603050405020304" pitchFamily="18" charset="0"/>
                <a:ea typeface="Urbanist"/>
                <a:cs typeface="Times New Roman" panose="02020603050405020304" pitchFamily="18" charset="0"/>
                <a:sym typeface="Urbanist"/>
              </a:rPr>
              <a:t> Launch python cooling_pump_sim.py (1 Hz telemetry).</a:t>
            </a:r>
          </a:p>
          <a:p>
            <a:pPr>
              <a:lnSpc>
                <a:spcPct val="140000"/>
              </a:lnSpc>
            </a:pPr>
            <a:r>
              <a:rPr lang="en-US" b="1" dirty="0">
                <a:solidFill>
                  <a:srgbClr val="475569"/>
                </a:solidFill>
                <a:latin typeface="Times New Roman" panose="02020603050405020304" pitchFamily="18" charset="0"/>
                <a:ea typeface="Urbanist"/>
                <a:cs typeface="Times New Roman" panose="02020603050405020304" pitchFamily="18" charset="0"/>
                <a:sym typeface="Urbanist"/>
              </a:rPr>
              <a:t>4. Intelligence:</a:t>
            </a:r>
            <a:r>
              <a:rPr lang="en-US" dirty="0">
                <a:solidFill>
                  <a:srgbClr val="475569"/>
                </a:solidFill>
                <a:latin typeface="Times New Roman" panose="02020603050405020304" pitchFamily="18" charset="0"/>
                <a:ea typeface="Urbanist"/>
                <a:cs typeface="Times New Roman" panose="02020603050405020304" pitchFamily="18" charset="0"/>
                <a:sym typeface="Urbanist"/>
              </a:rPr>
              <a:t> Launch python edge_node.py (Isolation Forest / Z-Score).</a:t>
            </a:r>
          </a:p>
          <a:p>
            <a:pPr>
              <a:lnSpc>
                <a:spcPct val="140000"/>
              </a:lnSpc>
            </a:pPr>
            <a:r>
              <a:rPr lang="en-US" b="1" dirty="0">
                <a:solidFill>
                  <a:srgbClr val="475569"/>
                </a:solidFill>
                <a:latin typeface="Times New Roman" panose="02020603050405020304" pitchFamily="18" charset="0"/>
                <a:ea typeface="Urbanist"/>
                <a:cs typeface="Times New Roman" panose="02020603050405020304" pitchFamily="18" charset="0"/>
                <a:sym typeface="Urbanist"/>
              </a:rPr>
              <a:t>5. Dashboard:</a:t>
            </a:r>
            <a:r>
              <a:rPr lang="en-US" dirty="0">
                <a:solidFill>
                  <a:srgbClr val="475569"/>
                </a:solidFill>
                <a:latin typeface="Times New Roman" panose="02020603050405020304" pitchFamily="18" charset="0"/>
                <a:ea typeface="Urbanist"/>
                <a:cs typeface="Times New Roman" panose="02020603050405020304" pitchFamily="18" charset="0"/>
                <a:sym typeface="Urbanist"/>
              </a:rPr>
              <a:t> Launch </a:t>
            </a:r>
            <a:r>
              <a:rPr lang="en-US" dirty="0" err="1">
                <a:solidFill>
                  <a:srgbClr val="475569"/>
                </a:solidFill>
                <a:latin typeface="Times New Roman" panose="02020603050405020304" pitchFamily="18" charset="0"/>
                <a:ea typeface="Urbanist"/>
                <a:cs typeface="Times New Roman" panose="02020603050405020304" pitchFamily="18" charset="0"/>
                <a:sym typeface="Urbanist"/>
              </a:rPr>
              <a:t>streamlit</a:t>
            </a:r>
            <a:r>
              <a:rPr lang="en-US" dirty="0">
                <a:solidFill>
                  <a:srgbClr val="475569"/>
                </a:solidFill>
                <a:latin typeface="Times New Roman" panose="02020603050405020304" pitchFamily="18" charset="0"/>
                <a:ea typeface="Urbanist"/>
                <a:cs typeface="Times New Roman" panose="02020603050405020304" pitchFamily="18" charset="0"/>
                <a:sym typeface="Urbanist"/>
              </a:rPr>
              <a:t> run dashboard.py for real-time visualization.</a:t>
            </a:r>
            <a:endParaRPr lang="en-US" dirty="0">
              <a:latin typeface="Times New Roman" panose="02020603050405020304" pitchFamily="18" charset="0"/>
              <a:cs typeface="Times New Roman" panose="02020603050405020304" pitchFamily="18" charset="0"/>
            </a:endParaRPr>
          </a:p>
        </p:txBody>
      </p:sp>
      <p:pic>
        <p:nvPicPr>
          <p:cNvPr id="2" name="Google Shape;88;p13">
            <a:extLst>
              <a:ext uri="{FF2B5EF4-FFF2-40B4-BE49-F238E27FC236}">
                <a16:creationId xmlns:a16="http://schemas.microsoft.com/office/drawing/2014/main" id="{62772DC9-5FE5-6A7F-0196-F4B551B8BBA8}"/>
              </a:ext>
            </a:extLst>
          </p:cNvPr>
          <p:cNvPicPr preferRelativeResize="0"/>
          <p:nvPr/>
        </p:nvPicPr>
        <p:blipFill rotWithShape="1">
          <a:blip r:embed="rId4">
            <a:alphaModFix/>
          </a:blip>
          <a:srcRect/>
          <a:stretch/>
        </p:blipFill>
        <p:spPr>
          <a:xfrm>
            <a:off x="10210204" y="393758"/>
            <a:ext cx="1600795" cy="3554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0"/>
        <p:cNvGrpSpPr/>
        <p:nvPr/>
      </p:nvGrpSpPr>
      <p:grpSpPr>
        <a:xfrm>
          <a:off x="0" y="0"/>
          <a:ext cx="0" cy="0"/>
          <a:chOff x="0" y="0"/>
          <a:chExt cx="0" cy="0"/>
        </a:xfrm>
      </p:grpSpPr>
      <p:pic>
        <p:nvPicPr>
          <p:cNvPr id="281" name="Google Shape;281;p24" descr="image.png"/>
          <p:cNvPicPr preferRelativeResize="0"/>
          <p:nvPr/>
        </p:nvPicPr>
        <p:blipFill rotWithShape="1">
          <a:blip r:embed="rId3">
            <a:alphaModFix/>
          </a:blip>
          <a:srcRect/>
          <a:stretch/>
        </p:blipFill>
        <p:spPr>
          <a:xfrm>
            <a:off x="0" y="-8965"/>
            <a:ext cx="12192000" cy="6858000"/>
          </a:xfrm>
          <a:prstGeom prst="rect">
            <a:avLst/>
          </a:prstGeom>
          <a:noFill/>
          <a:ln>
            <a:noFill/>
          </a:ln>
        </p:spPr>
      </p:pic>
      <p:sp>
        <p:nvSpPr>
          <p:cNvPr id="282" name="Google Shape;282;p24"/>
          <p:cNvSpPr txBox="1"/>
          <p:nvPr/>
        </p:nvSpPr>
        <p:spPr>
          <a:xfrm>
            <a:off x="762000" y="950862"/>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F172A"/>
                </a:solidFill>
                <a:latin typeface="Times New Roman" panose="02020603050405020304" pitchFamily="18" charset="0"/>
                <a:ea typeface="Urbanist"/>
                <a:cs typeface="Times New Roman" panose="02020603050405020304" pitchFamily="18" charset="0"/>
                <a:sym typeface="Urbanist"/>
              </a:rPr>
              <a:t>REFERENCES</a:t>
            </a:r>
            <a:endParaRPr dirty="0">
              <a:latin typeface="Times New Roman" panose="02020603050405020304" pitchFamily="18" charset="0"/>
              <a:cs typeface="Times New Roman" panose="02020603050405020304" pitchFamily="18" charset="0"/>
            </a:endParaRPr>
          </a:p>
        </p:txBody>
      </p:sp>
      <p:sp>
        <p:nvSpPr>
          <p:cNvPr id="283" name="Google Shape;283;p24"/>
          <p:cNvSpPr/>
          <p:nvPr/>
        </p:nvSpPr>
        <p:spPr>
          <a:xfrm>
            <a:off x="571500" y="950862"/>
            <a:ext cx="76200" cy="552450"/>
          </a:xfrm>
          <a:prstGeom prst="rect">
            <a:avLst/>
          </a:prstGeom>
          <a:solidFill>
            <a:srgbClr val="E11D4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84" name="Google Shape;284;p24"/>
          <p:cNvSpPr txBox="1"/>
          <p:nvPr/>
        </p:nvSpPr>
        <p:spPr>
          <a:xfrm>
            <a:off x="571500" y="2978646"/>
            <a:ext cx="5334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[1] ISO 20816-1:2017 Mechanical vibration standards.</a:t>
            </a:r>
            <a:endParaRPr>
              <a:latin typeface="Times New Roman" panose="02020603050405020304" pitchFamily="18" charset="0"/>
              <a:cs typeface="Times New Roman" panose="02020603050405020304" pitchFamily="18" charset="0"/>
            </a:endParaRPr>
          </a:p>
        </p:txBody>
      </p:sp>
      <p:sp>
        <p:nvSpPr>
          <p:cNvPr id="285" name="Google Shape;285;p24"/>
          <p:cNvSpPr txBox="1"/>
          <p:nvPr/>
        </p:nvSpPr>
        <p:spPr>
          <a:xfrm>
            <a:off x="571500" y="3435846"/>
            <a:ext cx="5334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[2] NEMA MG 1-2021: Motors and Generators guidelines.</a:t>
            </a:r>
            <a:endParaRPr dirty="0">
              <a:latin typeface="Times New Roman" panose="02020603050405020304" pitchFamily="18" charset="0"/>
              <a:cs typeface="Times New Roman" panose="02020603050405020304" pitchFamily="18" charset="0"/>
            </a:endParaRPr>
          </a:p>
        </p:txBody>
      </p:sp>
      <p:sp>
        <p:nvSpPr>
          <p:cNvPr id="286" name="Google Shape;286;p24"/>
          <p:cNvSpPr txBox="1"/>
          <p:nvPr/>
        </p:nvSpPr>
        <p:spPr>
          <a:xfrm>
            <a:off x="571500" y="3893046"/>
            <a:ext cx="5334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[3] Liu et al. (2008) "Isolation Forest" IEEE ICDM.</a:t>
            </a:r>
            <a:endParaRPr>
              <a:latin typeface="Times New Roman" panose="02020603050405020304" pitchFamily="18" charset="0"/>
              <a:cs typeface="Times New Roman" panose="02020603050405020304" pitchFamily="18" charset="0"/>
            </a:endParaRPr>
          </a:p>
        </p:txBody>
      </p:sp>
      <p:sp>
        <p:nvSpPr>
          <p:cNvPr id="287" name="Google Shape;287;p24"/>
          <p:cNvSpPr txBox="1"/>
          <p:nvPr/>
        </p:nvSpPr>
        <p:spPr>
          <a:xfrm>
            <a:off x="571500" y="4350246"/>
            <a:ext cx="5334000" cy="323165"/>
          </a:xfrm>
          <a:prstGeom prst="rect">
            <a:avLst/>
          </a:prstGeom>
          <a:noFill/>
          <a:ln>
            <a:noFill/>
          </a:ln>
        </p:spPr>
        <p:txBody>
          <a:bodyPr spcFirstLastPara="1" wrap="square" lIns="0" tIns="0" rIns="0" bIns="0" anchor="t" anchorCtr="0">
            <a:spAutoFit/>
          </a:bodyPr>
          <a:lstStyle/>
          <a:p>
            <a:pPr lvl="0">
              <a:lnSpc>
                <a:spcPct val="140000"/>
              </a:lnSpc>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[4] </a:t>
            </a:r>
            <a:r>
              <a:rPr lang="en-US" sz="1500" dirty="0">
                <a:solidFill>
                  <a:srgbClr val="475569"/>
                </a:solidFill>
                <a:latin typeface="Times New Roman" panose="02020603050405020304" pitchFamily="18" charset="0"/>
                <a:ea typeface="Urbanist"/>
                <a:cs typeface="Times New Roman" panose="02020603050405020304" pitchFamily="18" charset="0"/>
                <a:sym typeface="Urbanist"/>
              </a:rPr>
              <a:t>Si et al. (2011) "Remaining useful life estimation" EJOR.</a:t>
            </a:r>
            <a:endParaRPr lang="en-US" sz="1600" dirty="0">
              <a:latin typeface="Times New Roman" panose="02020603050405020304" pitchFamily="18" charset="0"/>
              <a:cs typeface="Times New Roman" panose="02020603050405020304" pitchFamily="18" charset="0"/>
            </a:endParaRPr>
          </a:p>
        </p:txBody>
      </p:sp>
      <p:sp>
        <p:nvSpPr>
          <p:cNvPr id="288" name="Google Shape;288;p24"/>
          <p:cNvSpPr txBox="1"/>
          <p:nvPr/>
        </p:nvSpPr>
        <p:spPr>
          <a:xfrm>
            <a:off x="571500" y="4807446"/>
            <a:ext cx="5334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dirty="0">
                <a:solidFill>
                  <a:srgbClr val="475569"/>
                </a:solidFill>
                <a:latin typeface="Times New Roman" panose="02020603050405020304" pitchFamily="18" charset="0"/>
                <a:ea typeface="Urbanist"/>
                <a:cs typeface="Times New Roman" panose="02020603050405020304" pitchFamily="18" charset="0"/>
                <a:sym typeface="Urbanist"/>
              </a:rPr>
              <a:t>and more…</a:t>
            </a:r>
            <a:endParaRPr dirty="0">
              <a:latin typeface="Times New Roman" panose="02020603050405020304" pitchFamily="18" charset="0"/>
              <a:cs typeface="Times New Roman" panose="02020603050405020304" pitchFamily="18" charset="0"/>
            </a:endParaRPr>
          </a:p>
        </p:txBody>
      </p:sp>
      <p:sp>
        <p:nvSpPr>
          <p:cNvPr id="289" name="Google Shape;289;p24"/>
          <p:cNvSpPr txBox="1"/>
          <p:nvPr/>
        </p:nvSpPr>
        <p:spPr>
          <a:xfrm>
            <a:off x="6153150" y="3169146"/>
            <a:ext cx="56007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0" i="0" u="none" strike="noStrike" cap="none">
                <a:solidFill>
                  <a:srgbClr val="E11D48"/>
                </a:solidFill>
                <a:latin typeface="Times New Roman" panose="02020603050405020304" pitchFamily="18" charset="0"/>
                <a:ea typeface="Urbanist SemiBold"/>
                <a:cs typeface="Times New Roman" panose="02020603050405020304" pitchFamily="18" charset="0"/>
                <a:sym typeface="Urbanist SemiBold"/>
              </a:rPr>
              <a:t>Questions?</a:t>
            </a:r>
            <a:endParaRPr>
              <a:latin typeface="Times New Roman" panose="02020603050405020304" pitchFamily="18" charset="0"/>
              <a:cs typeface="Times New Roman" panose="02020603050405020304" pitchFamily="18" charset="0"/>
            </a:endParaRPr>
          </a:p>
        </p:txBody>
      </p:sp>
      <p:sp>
        <p:nvSpPr>
          <p:cNvPr id="290" name="Google Shape;290;p24"/>
          <p:cNvSpPr txBox="1"/>
          <p:nvPr/>
        </p:nvSpPr>
        <p:spPr>
          <a:xfrm>
            <a:off x="6286500" y="3816846"/>
            <a:ext cx="5334000" cy="3231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475569"/>
                </a:solidFill>
                <a:latin typeface="Times New Roman" panose="02020603050405020304" pitchFamily="18" charset="0"/>
                <a:ea typeface="Urbanist"/>
                <a:cs typeface="Times New Roman" panose="02020603050405020304" pitchFamily="18" charset="0"/>
                <a:sym typeface="Urbanist"/>
              </a:rPr>
              <a:t>Thank you for your attention.</a:t>
            </a:r>
            <a:endParaRPr>
              <a:latin typeface="Times New Roman" panose="02020603050405020304" pitchFamily="18" charset="0"/>
              <a:cs typeface="Times New Roman" panose="02020603050405020304" pitchFamily="18" charset="0"/>
            </a:endParaRPr>
          </a:p>
        </p:txBody>
      </p:sp>
      <p:sp>
        <p:nvSpPr>
          <p:cNvPr id="291" name="Google Shape;291;p24"/>
          <p:cNvSpPr txBox="1"/>
          <p:nvPr/>
        </p:nvSpPr>
        <p:spPr>
          <a:xfrm>
            <a:off x="5728447" y="4464546"/>
            <a:ext cx="5892053" cy="3231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dirty="0">
                <a:solidFill>
                  <a:srgbClr val="475569"/>
                </a:solidFill>
                <a:latin typeface="Times New Roman" panose="02020603050405020304" pitchFamily="18" charset="0"/>
                <a:ea typeface="Urbanist"/>
                <a:cs typeface="Times New Roman" panose="02020603050405020304" pitchFamily="18" charset="0"/>
                <a:sym typeface="Urbanist"/>
              </a:rPr>
              <a:t>Industrial Equipment Failure Prediction Using Edge Analytics | MCA</a:t>
            </a:r>
            <a:endParaRPr dirty="0">
              <a:latin typeface="Times New Roman" panose="02020603050405020304" pitchFamily="18" charset="0"/>
              <a:cs typeface="Times New Roman" panose="02020603050405020304" pitchFamily="18" charset="0"/>
            </a:endParaRPr>
          </a:p>
        </p:txBody>
      </p:sp>
      <p:sp>
        <p:nvSpPr>
          <p:cNvPr id="292" name="Google Shape;292;p24"/>
          <p:cNvSpPr txBox="1"/>
          <p:nvPr/>
        </p:nvSpPr>
        <p:spPr>
          <a:xfrm>
            <a:off x="6286500" y="4921746"/>
            <a:ext cx="5334000" cy="258532"/>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94A3B8"/>
                </a:solidFill>
                <a:latin typeface="Times New Roman" panose="02020603050405020304" pitchFamily="18" charset="0"/>
                <a:ea typeface="Urbanist"/>
                <a:cs typeface="Times New Roman" panose="02020603050405020304" pitchFamily="18" charset="0"/>
                <a:sym typeface="Urbanist"/>
              </a:rPr>
              <a:t>github.com/smarthsalaria/predictive_maintenance</a:t>
            </a:r>
            <a:endParaRPr>
              <a:latin typeface="Times New Roman" panose="02020603050405020304" pitchFamily="18" charset="0"/>
              <a:cs typeface="Times New Roman" panose="02020603050405020304" pitchFamily="18" charset="0"/>
            </a:endParaRPr>
          </a:p>
        </p:txBody>
      </p:sp>
      <p:pic>
        <p:nvPicPr>
          <p:cNvPr id="2" name="Google Shape;88;p13">
            <a:extLst>
              <a:ext uri="{FF2B5EF4-FFF2-40B4-BE49-F238E27FC236}">
                <a16:creationId xmlns:a16="http://schemas.microsoft.com/office/drawing/2014/main" id="{D505453E-B275-50F0-EAEC-020B0C98DF9F}"/>
              </a:ext>
            </a:extLst>
          </p:cNvPr>
          <p:cNvPicPr preferRelativeResize="0"/>
          <p:nvPr/>
        </p:nvPicPr>
        <p:blipFill rotWithShape="1">
          <a:blip r:embed="rId4">
            <a:alphaModFix/>
          </a:blip>
          <a:srcRect/>
          <a:stretch/>
        </p:blipFill>
        <p:spPr>
          <a:xfrm>
            <a:off x="10210204" y="393758"/>
            <a:ext cx="1600795" cy="35548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758</Words>
  <Application>Microsoft Office PowerPoint</Application>
  <PresentationFormat>Widescreen</PresentationFormat>
  <Paragraphs>96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Times New Roman</vt:lpstr>
      <vt:lpstr>Calibri</vt:lpstr>
      <vt:lpstr>Urbanist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Smarth Salaria</cp:lastModifiedBy>
  <cp:revision>4</cp:revision>
  <dcterms:modified xsi:type="dcterms:W3CDTF">2026-05-17T10:31:39Z</dcterms:modified>
</cp:coreProperties>
</file>